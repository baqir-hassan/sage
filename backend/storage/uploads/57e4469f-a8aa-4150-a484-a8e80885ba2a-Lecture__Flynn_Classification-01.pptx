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81811" y="648080"/>
            <a:ext cx="270319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99BDD"/>
                </a:solidFill>
                <a:latin typeface="Corbel"/>
                <a:cs typeface="Corbe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99BDD"/>
                </a:solidFill>
                <a:latin typeface="Corbel"/>
                <a:cs typeface="Corbe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99BDD"/>
                </a:solidFill>
                <a:latin typeface="Corbel"/>
                <a:cs typeface="Corbe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347205" y="2010592"/>
            <a:ext cx="5441950" cy="387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99BDD"/>
                </a:solidFill>
                <a:latin typeface="Corbel"/>
                <a:cs typeface="Corbe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9B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76784"/>
            <a:ext cx="12189460" cy="1645920"/>
          </a:xfrm>
          <a:custGeom>
            <a:avLst/>
            <a:gdLst/>
            <a:ahLst/>
            <a:cxnLst/>
            <a:rect l="l" t="t" r="r" b="b"/>
            <a:pathLst>
              <a:path w="12189460" h="1645920">
                <a:moveTo>
                  <a:pt x="12188952" y="0"/>
                </a:moveTo>
                <a:lnTo>
                  <a:pt x="0" y="0"/>
                </a:lnTo>
                <a:lnTo>
                  <a:pt x="0" y="1645920"/>
                </a:lnTo>
                <a:lnTo>
                  <a:pt x="12188952" y="1645920"/>
                </a:lnTo>
                <a:lnTo>
                  <a:pt x="121889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5173" y="648080"/>
            <a:ext cx="11653062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99BDD"/>
                </a:solidFill>
                <a:latin typeface="Corbel"/>
                <a:cs typeface="Corbe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839595"/>
            <a:ext cx="6854825" cy="3876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887723"/>
            <a:ext cx="12192000" cy="2970530"/>
          </a:xfrm>
          <a:custGeom>
            <a:avLst/>
            <a:gdLst/>
            <a:ahLst/>
            <a:cxnLst/>
            <a:rect l="l" t="t" r="r" b="b"/>
            <a:pathLst>
              <a:path w="12192000" h="2970529">
                <a:moveTo>
                  <a:pt x="0" y="2970275"/>
                </a:moveTo>
                <a:lnTo>
                  <a:pt x="12192000" y="2970275"/>
                </a:lnTo>
                <a:lnTo>
                  <a:pt x="12192000" y="0"/>
                </a:lnTo>
                <a:lnTo>
                  <a:pt x="0" y="0"/>
                </a:lnTo>
                <a:lnTo>
                  <a:pt x="0" y="2970275"/>
                </a:lnTo>
                <a:close/>
              </a:path>
            </a:pathLst>
          </a:custGeom>
          <a:solidFill>
            <a:srgbClr val="099BD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92000" cy="3888104"/>
            <a:chOff x="0" y="0"/>
            <a:chExt cx="12192000" cy="3888104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12192000" cy="2059305"/>
            </a:xfrm>
            <a:custGeom>
              <a:avLst/>
              <a:gdLst/>
              <a:ahLst/>
              <a:cxnLst/>
              <a:rect l="l" t="t" r="r" b="b"/>
              <a:pathLst>
                <a:path w="12192000" h="2059305">
                  <a:moveTo>
                    <a:pt x="0" y="2058924"/>
                  </a:moveTo>
                  <a:lnTo>
                    <a:pt x="12192000" y="205892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058924"/>
                  </a:lnTo>
                  <a:close/>
                </a:path>
              </a:pathLst>
            </a:custGeom>
            <a:solidFill>
              <a:srgbClr val="099B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2058923"/>
              <a:ext cx="12189460" cy="1828800"/>
            </a:xfrm>
            <a:custGeom>
              <a:avLst/>
              <a:gdLst/>
              <a:ahLst/>
              <a:cxnLst/>
              <a:rect l="l" t="t" r="r" b="b"/>
              <a:pathLst>
                <a:path w="12189460" h="1828800">
                  <a:moveTo>
                    <a:pt x="12188952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12188952" y="1828800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07770" y="2079116"/>
            <a:ext cx="10152380" cy="1671955"/>
          </a:xfrm>
          <a:prstGeom prst="rect"/>
        </p:spPr>
        <p:txBody>
          <a:bodyPr wrap="square" lIns="0" tIns="189230" rIns="0" bIns="0" rtlCol="0" vert="horz">
            <a:spAutoFit/>
          </a:bodyPr>
          <a:lstStyle/>
          <a:p>
            <a:pPr marL="2891790" marR="5080" indent="-2879725">
              <a:lnSpc>
                <a:spcPts val="5760"/>
              </a:lnSpc>
              <a:spcBef>
                <a:spcPts val="1490"/>
              </a:spcBef>
            </a:pPr>
            <a:r>
              <a:rPr dirty="0" sz="6000"/>
              <a:t>PARALLEL</a:t>
            </a:r>
            <a:r>
              <a:rPr dirty="0" sz="6000" spc="135"/>
              <a:t> </a:t>
            </a:r>
            <a:r>
              <a:rPr dirty="0" sz="6000" spc="85"/>
              <a:t>AND</a:t>
            </a:r>
            <a:r>
              <a:rPr dirty="0" sz="6000" spc="450"/>
              <a:t> </a:t>
            </a:r>
            <a:r>
              <a:rPr dirty="0" sz="6000" spc="105"/>
              <a:t>DISTRIBUTED COMPUTING</a:t>
            </a:r>
            <a:endParaRPr sz="6000"/>
          </a:p>
        </p:txBody>
      </p:sp>
      <p:sp>
        <p:nvSpPr>
          <p:cNvPr id="7" name="object 7" descr=""/>
          <p:cNvSpPr txBox="1"/>
          <p:nvPr/>
        </p:nvSpPr>
        <p:spPr>
          <a:xfrm>
            <a:off x="2891408" y="3688537"/>
            <a:ext cx="640905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>
                <a:solidFill>
                  <a:srgbClr val="FFFFFF"/>
                </a:solidFill>
                <a:latin typeface="Corbel"/>
                <a:cs typeface="Corbel"/>
              </a:rPr>
              <a:t>LECTURE</a:t>
            </a:r>
            <a:r>
              <a:rPr dirty="0" sz="9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9600" spc="-50">
                <a:solidFill>
                  <a:srgbClr val="FFFFFF"/>
                </a:solidFill>
                <a:latin typeface="Corbel"/>
                <a:cs typeface="Corbel"/>
              </a:rPr>
              <a:t>02</a:t>
            </a:r>
            <a:endParaRPr sz="9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OUTLINE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406265" y="1961515"/>
            <a:ext cx="33794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Flynn’s</a:t>
            </a:r>
            <a:r>
              <a:rPr dirty="0" sz="3600" spc="-2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Taxonomy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40"/>
              <a:t>TAXONOMY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1281811" y="1961515"/>
            <a:ext cx="8986520" cy="156210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just" marL="12700" marR="5080">
              <a:lnSpc>
                <a:spcPts val="3890"/>
              </a:lnSpc>
              <a:spcBef>
                <a:spcPts val="585"/>
              </a:spcBef>
            </a:pP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Taxonomy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method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division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,</a:t>
            </a:r>
            <a:r>
              <a:rPr dirty="0" sz="3600" spc="6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arrangement,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classification,</a:t>
            </a:r>
            <a:r>
              <a:rPr dirty="0" sz="3600" spc="-7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categorization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36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things</a:t>
            </a:r>
            <a:r>
              <a:rPr dirty="0" sz="3600" spc="-7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based</a:t>
            </a:r>
            <a:r>
              <a:rPr dirty="0" sz="3600" spc="-8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on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predetermined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system.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99185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F</a:t>
            </a:r>
            <a:r>
              <a:rPr dirty="0" sz="4000" spc="-565"/>
              <a:t>L</a:t>
            </a:r>
            <a:r>
              <a:rPr dirty="0" sz="4000" spc="-35"/>
              <a:t>YN</a:t>
            </a:r>
            <a:r>
              <a:rPr dirty="0" sz="4000" spc="-25"/>
              <a:t>N</a:t>
            </a:r>
            <a:r>
              <a:rPr dirty="0" sz="4000" spc="-220"/>
              <a:t> </a:t>
            </a:r>
            <a:r>
              <a:rPr dirty="0" sz="4000" spc="-30"/>
              <a:t>TAXONOMY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361289" y="1839595"/>
            <a:ext cx="11328400" cy="4192904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Micheal</a:t>
            </a:r>
            <a:r>
              <a:rPr dirty="0" sz="3600" spc="-1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J.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Flynn</a:t>
            </a:r>
            <a:r>
              <a:rPr dirty="0" sz="36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professor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at</a:t>
            </a:r>
            <a:r>
              <a:rPr dirty="0" sz="3600" spc="-1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3600" spc="-1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3600">
              <a:latin typeface="Corbel"/>
              <a:cs typeface="Corbel"/>
            </a:endParaRPr>
          </a:p>
          <a:p>
            <a:pPr marL="195580" marR="5080" indent="-183515">
              <a:lnSpc>
                <a:spcPts val="3890"/>
              </a:lnSpc>
              <a:spcBef>
                <a:spcPts val="1445"/>
              </a:spcBef>
              <a:buFont typeface="Wingdings"/>
              <a:buChar char=""/>
              <a:tabLst>
                <a:tab pos="195580" algn="l"/>
              </a:tabLst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proposed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Flynn’s</a:t>
            </a:r>
            <a:r>
              <a:rPr dirty="0" sz="3600" spc="-2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Taxonomy,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method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classifying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digital</a:t>
            </a:r>
            <a:r>
              <a:rPr dirty="0" sz="36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computers</a:t>
            </a:r>
            <a:r>
              <a:rPr dirty="0" sz="36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dirty="0" sz="36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1966</a:t>
            </a:r>
            <a:endParaRPr sz="3600">
              <a:latin typeface="Corbel"/>
              <a:cs typeface="Corbel"/>
            </a:endParaRPr>
          </a:p>
          <a:p>
            <a:pPr marL="195580" indent="-182880">
              <a:lnSpc>
                <a:spcPct val="100000"/>
              </a:lnSpc>
              <a:spcBef>
                <a:spcPts val="915"/>
              </a:spcBef>
              <a:buFont typeface="Wingdings"/>
              <a:buChar char=""/>
              <a:tabLst>
                <a:tab pos="195580" algn="l"/>
              </a:tabLst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defined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four</a:t>
            </a:r>
            <a:r>
              <a:rPr dirty="0" sz="36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categories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digital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computer</a:t>
            </a:r>
            <a:endParaRPr sz="3600">
              <a:latin typeface="Corbel"/>
              <a:cs typeface="Corbel"/>
            </a:endParaRPr>
          </a:p>
          <a:p>
            <a:pPr marL="12700" marR="973455">
              <a:lnSpc>
                <a:spcPct val="90000"/>
              </a:lnSpc>
              <a:spcBef>
                <a:spcPts val="1405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Since the</a:t>
            </a:r>
            <a:r>
              <a:rPr dirty="0" sz="3600" spc="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rise</a:t>
            </a:r>
            <a:r>
              <a:rPr dirty="0" sz="3600" spc="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3600" spc="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multiprocessing</a:t>
            </a:r>
            <a:r>
              <a:rPr dirty="0" sz="3600" spc="-1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CPU this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classification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system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has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been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used</a:t>
            </a:r>
            <a:r>
              <a:rPr dirty="0" sz="36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as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a tool</a:t>
            </a:r>
            <a:r>
              <a:rPr dirty="0" sz="3600" spc="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in design</a:t>
            </a:r>
            <a:r>
              <a:rPr dirty="0" sz="36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36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modern processors.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9B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176784"/>
            <a:ext cx="12189460" cy="1645920"/>
          </a:xfrm>
          <a:custGeom>
            <a:avLst/>
            <a:gdLst/>
            <a:ahLst/>
            <a:cxnLst/>
            <a:rect l="l" t="t" r="r" b="b"/>
            <a:pathLst>
              <a:path w="12189460" h="1645920">
                <a:moveTo>
                  <a:pt x="12188952" y="0"/>
                </a:moveTo>
                <a:lnTo>
                  <a:pt x="0" y="0"/>
                </a:lnTo>
                <a:lnTo>
                  <a:pt x="0" y="1645920"/>
                </a:lnTo>
                <a:lnTo>
                  <a:pt x="12188952" y="1645920"/>
                </a:lnTo>
                <a:lnTo>
                  <a:pt x="121889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99185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F</a:t>
            </a:r>
            <a:r>
              <a:rPr dirty="0" sz="4000" spc="-565"/>
              <a:t>L</a:t>
            </a:r>
            <a:r>
              <a:rPr dirty="0" sz="4000" spc="-35"/>
              <a:t>YN</a:t>
            </a:r>
            <a:r>
              <a:rPr dirty="0" sz="4000" spc="-25"/>
              <a:t>N</a:t>
            </a:r>
            <a:r>
              <a:rPr dirty="0" sz="4000" spc="-220"/>
              <a:t> </a:t>
            </a:r>
            <a:r>
              <a:rPr dirty="0" sz="4000" spc="-30"/>
              <a:t>TAXONOMY</a:t>
            </a:r>
            <a:endParaRPr sz="40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1923286"/>
            <a:ext cx="11939016" cy="4861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99185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F</a:t>
            </a:r>
            <a:r>
              <a:rPr dirty="0" sz="4000" spc="-565"/>
              <a:t>L</a:t>
            </a:r>
            <a:r>
              <a:rPr dirty="0" sz="4000" spc="-35"/>
              <a:t>YN</a:t>
            </a:r>
            <a:r>
              <a:rPr dirty="0" sz="4000" spc="-25"/>
              <a:t>N</a:t>
            </a:r>
            <a:r>
              <a:rPr dirty="0" sz="4000" spc="-220"/>
              <a:t> </a:t>
            </a:r>
            <a:r>
              <a:rPr dirty="0" sz="4000" spc="-30"/>
              <a:t>TAXONOMY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967610"/>
            <a:ext cx="10506075" cy="395668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 marR="822960">
              <a:lnSpc>
                <a:spcPts val="3560"/>
              </a:lnSpc>
              <a:spcBef>
                <a:spcPts val="550"/>
              </a:spcBef>
            </a:pP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This</a:t>
            </a:r>
            <a:r>
              <a:rPr dirty="0" sz="33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Corbel"/>
                <a:cs typeface="Corbel"/>
              </a:rPr>
              <a:t>classification</a:t>
            </a:r>
            <a:r>
              <a:rPr dirty="0" sz="33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based</a:t>
            </a:r>
            <a:r>
              <a:rPr dirty="0" sz="33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upon</a:t>
            </a:r>
            <a:r>
              <a:rPr dirty="0" sz="33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dirty="0" sz="33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number</a:t>
            </a:r>
            <a:r>
              <a:rPr dirty="0" sz="33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33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10" b="1" i="1">
                <a:solidFill>
                  <a:srgbClr val="FFFFFF"/>
                </a:solidFill>
                <a:latin typeface="Corbel"/>
                <a:cs typeface="Corbel"/>
              </a:rPr>
              <a:t>concurrent</a:t>
            </a:r>
            <a:r>
              <a:rPr dirty="0" sz="3300" spc="-10" b="1" i="1">
                <a:solidFill>
                  <a:srgbClr val="FFFFFF"/>
                </a:solidFill>
                <a:latin typeface="Corbel"/>
                <a:cs typeface="Corbel"/>
              </a:rPr>
              <a:t> Instructions/streams</a:t>
            </a:r>
            <a:r>
              <a:rPr dirty="0" sz="3300" spc="-3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33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b="1" i="1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dirty="0" sz="3300" spc="-4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b="1" i="1">
                <a:solidFill>
                  <a:srgbClr val="FFFFFF"/>
                </a:solidFill>
                <a:latin typeface="Corbel"/>
                <a:cs typeface="Corbel"/>
              </a:rPr>
              <a:t>streams</a:t>
            </a:r>
            <a:r>
              <a:rPr dirty="0" sz="3300" spc="-4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available</a:t>
            </a:r>
            <a:r>
              <a:rPr dirty="0" sz="3300" spc="-7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dirty="0" sz="33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25">
                <a:solidFill>
                  <a:srgbClr val="FFFFFF"/>
                </a:solidFill>
                <a:latin typeface="Corbel"/>
                <a:cs typeface="Corbel"/>
              </a:rPr>
              <a:t>the </a:t>
            </a:r>
            <a:r>
              <a:rPr dirty="0" sz="3300" spc="-10">
                <a:solidFill>
                  <a:srgbClr val="FFFFFF"/>
                </a:solidFill>
                <a:latin typeface="Corbel"/>
                <a:cs typeface="Corbel"/>
              </a:rPr>
              <a:t>architecture.</a:t>
            </a:r>
            <a:endParaRPr sz="3300">
              <a:latin typeface="Corbel"/>
              <a:cs typeface="Corbel"/>
            </a:endParaRPr>
          </a:p>
          <a:p>
            <a:pPr marL="756285" indent="-743585">
              <a:lnSpc>
                <a:spcPct val="100000"/>
              </a:lnSpc>
              <a:spcBef>
                <a:spcPts val="965"/>
              </a:spcBef>
              <a:buAutoNum type="arabicPeriod"/>
              <a:tabLst>
                <a:tab pos="756285" algn="l"/>
              </a:tabLst>
            </a:pP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SISD:</a:t>
            </a:r>
            <a:r>
              <a:rPr dirty="0" sz="3300" spc="-1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Single</a:t>
            </a:r>
            <a:r>
              <a:rPr dirty="0" sz="33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Corbel"/>
                <a:cs typeface="Corbel"/>
              </a:rPr>
              <a:t>instruction</a:t>
            </a:r>
            <a:r>
              <a:rPr dirty="0" sz="33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stream,</a:t>
            </a:r>
            <a:r>
              <a:rPr dirty="0" sz="33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singe</a:t>
            </a:r>
            <a:r>
              <a:rPr dirty="0" sz="33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dirty="0" sz="33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Corbel"/>
                <a:cs typeface="Corbel"/>
              </a:rPr>
              <a:t>stream</a:t>
            </a:r>
            <a:endParaRPr sz="3300">
              <a:latin typeface="Corbel"/>
              <a:cs typeface="Corbel"/>
            </a:endParaRPr>
          </a:p>
          <a:p>
            <a:pPr marL="756285" indent="-743585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756285" algn="l"/>
              </a:tabLst>
            </a:pP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SIMD:</a:t>
            </a:r>
            <a:r>
              <a:rPr dirty="0" sz="3300" spc="-1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Single</a:t>
            </a:r>
            <a:r>
              <a:rPr dirty="0" sz="33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Corbel"/>
                <a:cs typeface="Corbel"/>
              </a:rPr>
              <a:t>instruction</a:t>
            </a:r>
            <a:r>
              <a:rPr dirty="0" sz="33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stream,</a:t>
            </a:r>
            <a:r>
              <a:rPr dirty="0" sz="33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multiple</a:t>
            </a:r>
            <a:r>
              <a:rPr dirty="0" sz="33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dirty="0" sz="33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Corbel"/>
                <a:cs typeface="Corbel"/>
              </a:rPr>
              <a:t>stream</a:t>
            </a:r>
            <a:endParaRPr sz="3300">
              <a:latin typeface="Corbel"/>
              <a:cs typeface="Corbel"/>
            </a:endParaRPr>
          </a:p>
          <a:p>
            <a:pPr marL="756285" indent="-74358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756285" algn="l"/>
              </a:tabLst>
            </a:pP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MISD:</a:t>
            </a:r>
            <a:r>
              <a:rPr dirty="0" sz="33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Multiple</a:t>
            </a:r>
            <a:r>
              <a:rPr dirty="0" sz="33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instruction</a:t>
            </a:r>
            <a:r>
              <a:rPr dirty="0" sz="33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stream,</a:t>
            </a:r>
            <a:r>
              <a:rPr dirty="0" sz="33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singe</a:t>
            </a:r>
            <a:r>
              <a:rPr dirty="0" sz="33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dirty="0" sz="33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Corbel"/>
                <a:cs typeface="Corbel"/>
              </a:rPr>
              <a:t>stream</a:t>
            </a:r>
            <a:endParaRPr sz="3300">
              <a:latin typeface="Corbel"/>
              <a:cs typeface="Corbel"/>
            </a:endParaRPr>
          </a:p>
          <a:p>
            <a:pPr marL="756285" indent="-743585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756285" algn="l"/>
              </a:tabLst>
            </a:pP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MIMD:</a:t>
            </a:r>
            <a:r>
              <a:rPr dirty="0" sz="33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Multiple</a:t>
            </a:r>
            <a:r>
              <a:rPr dirty="0" sz="33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Corbel"/>
                <a:cs typeface="Corbel"/>
              </a:rPr>
              <a:t>instruction</a:t>
            </a:r>
            <a:r>
              <a:rPr dirty="0" sz="33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stream,</a:t>
            </a:r>
            <a:r>
              <a:rPr dirty="0" sz="33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multiple</a:t>
            </a:r>
            <a:r>
              <a:rPr dirty="0" sz="33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dirty="0" sz="33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Corbel"/>
                <a:cs typeface="Corbel"/>
              </a:rPr>
              <a:t>stream</a:t>
            </a:r>
            <a:endParaRPr sz="33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99185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F</a:t>
            </a:r>
            <a:r>
              <a:rPr dirty="0" sz="4000" spc="-565"/>
              <a:t>L</a:t>
            </a:r>
            <a:r>
              <a:rPr dirty="0" sz="4000" spc="-35"/>
              <a:t>YN</a:t>
            </a:r>
            <a:r>
              <a:rPr dirty="0" sz="4000" spc="-25"/>
              <a:t>N</a:t>
            </a:r>
            <a:r>
              <a:rPr dirty="0" sz="4000" spc="-220"/>
              <a:t> </a:t>
            </a:r>
            <a:r>
              <a:rPr dirty="0" sz="4000" spc="-30"/>
              <a:t>TAXONOMY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961515"/>
            <a:ext cx="10055860" cy="223266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Instruction</a:t>
            </a:r>
            <a:r>
              <a:rPr dirty="0" sz="3600" spc="-10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Stream: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sequence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instructions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from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memory</a:t>
            </a:r>
            <a:r>
              <a:rPr dirty="0" sz="3600" spc="-8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3600" spc="-8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control</a:t>
            </a:r>
            <a:r>
              <a:rPr dirty="0" sz="3600" spc="-7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unit</a:t>
            </a:r>
            <a:endParaRPr sz="3600">
              <a:latin typeface="Corbel"/>
              <a:cs typeface="Corbel"/>
            </a:endParaRPr>
          </a:p>
          <a:p>
            <a:pPr marL="12700" marR="234950">
              <a:lnSpc>
                <a:spcPts val="3890"/>
              </a:lnSpc>
              <a:spcBef>
                <a:spcPts val="1390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dirty="0" sz="36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Stream:</a:t>
            </a:r>
            <a:r>
              <a:rPr dirty="0" sz="3600" spc="-2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sequence</a:t>
            </a:r>
            <a:r>
              <a:rPr dirty="0" sz="36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36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from memory</a:t>
            </a:r>
            <a:r>
              <a:rPr dirty="0" sz="36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to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control</a:t>
            </a:r>
            <a:r>
              <a:rPr dirty="0" sz="3600" spc="-10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unit.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11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dirty="0"/>
              <a:t>SISD</a:t>
            </a:r>
            <a:r>
              <a:rPr dirty="0" spc="-55"/>
              <a:t> </a:t>
            </a:r>
            <a:r>
              <a:rPr dirty="0"/>
              <a:t>(SINGLE</a:t>
            </a:r>
            <a:r>
              <a:rPr dirty="0" spc="-50"/>
              <a:t> </a:t>
            </a:r>
            <a:r>
              <a:rPr dirty="0"/>
              <a:t>INSTRUCTION</a:t>
            </a:r>
            <a:r>
              <a:rPr dirty="0" spc="-125"/>
              <a:t> </a:t>
            </a:r>
            <a:r>
              <a:rPr dirty="0"/>
              <a:t>STREAM,</a:t>
            </a:r>
            <a:r>
              <a:rPr dirty="0" spc="-110"/>
              <a:t> </a:t>
            </a:r>
            <a:r>
              <a:rPr dirty="0"/>
              <a:t>SINGLE</a:t>
            </a:r>
            <a:r>
              <a:rPr dirty="0" spc="-65"/>
              <a:t> </a:t>
            </a:r>
            <a:r>
              <a:rPr dirty="0" spc="-110"/>
              <a:t>DATA</a:t>
            </a:r>
            <a:r>
              <a:rPr dirty="0" spc="-85"/>
              <a:t> </a:t>
            </a:r>
            <a:r>
              <a:rPr dirty="0" spc="-10"/>
              <a:t>STREAM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1335" y="2023872"/>
            <a:ext cx="4550664" cy="4550664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6214" rIns="0" bIns="0" rtlCol="0" vert="horz">
            <a:spAutoFit/>
          </a:bodyPr>
          <a:lstStyle/>
          <a:p>
            <a:pPr marL="12700" marR="379730">
              <a:lnSpc>
                <a:spcPts val="3890"/>
              </a:lnSpc>
              <a:spcBef>
                <a:spcPts val="585"/>
              </a:spcBef>
            </a:pPr>
            <a:r>
              <a:rPr dirty="0"/>
              <a:t>Exploits</a:t>
            </a:r>
            <a:r>
              <a:rPr dirty="0" spc="-50"/>
              <a:t> </a:t>
            </a:r>
            <a:r>
              <a:rPr dirty="0"/>
              <a:t>no</a:t>
            </a:r>
            <a:r>
              <a:rPr dirty="0" spc="-55"/>
              <a:t> </a:t>
            </a:r>
            <a:r>
              <a:rPr dirty="0"/>
              <a:t>parallelism</a:t>
            </a:r>
            <a:r>
              <a:rPr dirty="0" spc="-55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 spc="-10"/>
              <a:t>either </a:t>
            </a:r>
            <a:r>
              <a:rPr dirty="0"/>
              <a:t>instructions</a:t>
            </a:r>
            <a:r>
              <a:rPr dirty="0" spc="-30"/>
              <a:t> </a:t>
            </a:r>
            <a:r>
              <a:rPr dirty="0"/>
              <a:t>or</a:t>
            </a:r>
            <a:r>
              <a:rPr dirty="0" spc="-30"/>
              <a:t> </a:t>
            </a:r>
            <a:r>
              <a:rPr dirty="0"/>
              <a:t>data</a:t>
            </a:r>
            <a:r>
              <a:rPr dirty="0" spc="-20"/>
              <a:t> </a:t>
            </a:r>
            <a:r>
              <a:rPr dirty="0" spc="-10"/>
              <a:t>streams</a:t>
            </a:r>
          </a:p>
          <a:p>
            <a:pPr marL="12700" marR="5080">
              <a:lnSpc>
                <a:spcPts val="3890"/>
              </a:lnSpc>
              <a:spcBef>
                <a:spcPts val="1390"/>
              </a:spcBef>
            </a:pPr>
            <a:r>
              <a:rPr dirty="0"/>
              <a:t>Single</a:t>
            </a:r>
            <a:r>
              <a:rPr dirty="0" spc="-10"/>
              <a:t> </a:t>
            </a:r>
            <a:r>
              <a:rPr dirty="0"/>
              <a:t>control</a:t>
            </a:r>
            <a:r>
              <a:rPr dirty="0" spc="-5"/>
              <a:t> </a:t>
            </a:r>
            <a:r>
              <a:rPr dirty="0"/>
              <a:t>unit,</a:t>
            </a:r>
            <a:r>
              <a:rPr dirty="0" spc="-10"/>
              <a:t> </a:t>
            </a:r>
            <a:r>
              <a:rPr dirty="0"/>
              <a:t>fetches</a:t>
            </a:r>
            <a:r>
              <a:rPr dirty="0" spc="-10"/>
              <a:t> single instruction</a:t>
            </a: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/>
              <a:t>i.e.</a:t>
            </a:r>
            <a:r>
              <a:rPr dirty="0" spc="-45"/>
              <a:t> </a:t>
            </a:r>
            <a:r>
              <a:rPr dirty="0"/>
              <a:t>one</a:t>
            </a:r>
            <a:r>
              <a:rPr dirty="0" spc="-30"/>
              <a:t> </a:t>
            </a:r>
            <a:r>
              <a:rPr dirty="0"/>
              <a:t>operation</a:t>
            </a:r>
            <a:r>
              <a:rPr dirty="0" spc="-30"/>
              <a:t> </a:t>
            </a:r>
            <a:r>
              <a:rPr dirty="0"/>
              <a:t>at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-10"/>
              <a:t>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11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dirty="0"/>
              <a:t>SISD</a:t>
            </a:r>
            <a:r>
              <a:rPr dirty="0" spc="-55"/>
              <a:t> </a:t>
            </a:r>
            <a:r>
              <a:rPr dirty="0"/>
              <a:t>(SINGLE</a:t>
            </a:r>
            <a:r>
              <a:rPr dirty="0" spc="-50"/>
              <a:t> </a:t>
            </a:r>
            <a:r>
              <a:rPr dirty="0"/>
              <a:t>INSTRUCTION</a:t>
            </a:r>
            <a:r>
              <a:rPr dirty="0" spc="-125"/>
              <a:t> </a:t>
            </a:r>
            <a:r>
              <a:rPr dirty="0"/>
              <a:t>STREAM,</a:t>
            </a:r>
            <a:r>
              <a:rPr dirty="0" spc="-110"/>
              <a:t> </a:t>
            </a:r>
            <a:r>
              <a:rPr dirty="0"/>
              <a:t>SINGLE</a:t>
            </a:r>
            <a:r>
              <a:rPr dirty="0" spc="-65"/>
              <a:t> </a:t>
            </a:r>
            <a:r>
              <a:rPr dirty="0" spc="-110"/>
              <a:t>DATA</a:t>
            </a:r>
            <a:r>
              <a:rPr dirty="0" spc="-85"/>
              <a:t> </a:t>
            </a:r>
            <a:r>
              <a:rPr dirty="0" spc="-10"/>
              <a:t>STREAM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6364" y="2023872"/>
            <a:ext cx="3945635" cy="3944112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3120390">
              <a:lnSpc>
                <a:spcPct val="122200"/>
              </a:lnSpc>
              <a:spcBef>
                <a:spcPts val="100"/>
              </a:spcBef>
            </a:pPr>
            <a:r>
              <a:rPr dirty="0"/>
              <a:t>Requires</a:t>
            </a:r>
            <a:r>
              <a:rPr dirty="0" spc="-55"/>
              <a:t> </a:t>
            </a:r>
            <a:r>
              <a:rPr dirty="0"/>
              <a:t>less</a:t>
            </a:r>
            <a:r>
              <a:rPr dirty="0" spc="-55"/>
              <a:t> </a:t>
            </a:r>
            <a:r>
              <a:rPr dirty="0" spc="-10"/>
              <a:t>power Cheap</a:t>
            </a:r>
          </a:p>
          <a:p>
            <a:pPr marL="12700" marR="5080">
              <a:lnSpc>
                <a:spcPts val="3890"/>
              </a:lnSpc>
              <a:spcBef>
                <a:spcPts val="1460"/>
              </a:spcBef>
            </a:pPr>
            <a:r>
              <a:rPr dirty="0"/>
              <a:t>No</a:t>
            </a:r>
            <a:r>
              <a:rPr dirty="0" spc="-25"/>
              <a:t> </a:t>
            </a:r>
            <a:r>
              <a:rPr dirty="0"/>
              <a:t>issue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complex</a:t>
            </a:r>
            <a:r>
              <a:rPr dirty="0" spc="-35"/>
              <a:t> </a:t>
            </a:r>
            <a:r>
              <a:rPr dirty="0" spc="-10"/>
              <a:t>communication protocol</a:t>
            </a:r>
          </a:p>
          <a:p>
            <a:pPr marL="12700" marR="325755">
              <a:lnSpc>
                <a:spcPts val="528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</a:rPr>
              <a:t>Limited</a:t>
            </a:r>
            <a:r>
              <a:rPr dirty="0" spc="-1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speed</a:t>
            </a:r>
            <a:r>
              <a:rPr dirty="0" spc="-1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due</a:t>
            </a:r>
            <a:r>
              <a:rPr dirty="0" spc="-3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dirty="0" spc="-2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single</a:t>
            </a:r>
            <a:r>
              <a:rPr dirty="0" spc="-10">
                <a:solidFill>
                  <a:srgbClr val="FF0000"/>
                </a:solidFill>
              </a:rPr>
              <a:t> </a:t>
            </a:r>
            <a:r>
              <a:rPr dirty="0" spc="-20">
                <a:solidFill>
                  <a:srgbClr val="FF0000"/>
                </a:solidFill>
              </a:rPr>
              <a:t>core </a:t>
            </a:r>
            <a:r>
              <a:rPr dirty="0">
                <a:solidFill>
                  <a:srgbClr val="FF0000"/>
                </a:solidFill>
              </a:rPr>
              <a:t>Not</a:t>
            </a:r>
            <a:r>
              <a:rPr dirty="0" spc="-2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suitable</a:t>
            </a:r>
            <a:r>
              <a:rPr dirty="0" spc="-2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for</a:t>
            </a:r>
            <a:r>
              <a:rPr dirty="0" spc="-2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larger</a:t>
            </a:r>
            <a:r>
              <a:rPr dirty="0" spc="-40">
                <a:solidFill>
                  <a:srgbClr val="FF0000"/>
                </a:solidFill>
              </a:rPr>
              <a:t> </a:t>
            </a:r>
            <a:r>
              <a:rPr dirty="0" spc="-10">
                <a:solidFill>
                  <a:srgbClr val="FF0000"/>
                </a:solidFill>
              </a:rPr>
              <a:t>applications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1523" y="2002535"/>
            <a:ext cx="4570476" cy="4572000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6214" rIns="0" bIns="0" rtlCol="0" vert="horz">
            <a:spAutoFit/>
          </a:bodyPr>
          <a:lstStyle/>
          <a:p>
            <a:pPr marL="12700" marR="855344">
              <a:lnSpc>
                <a:spcPts val="3890"/>
              </a:lnSpc>
              <a:spcBef>
                <a:spcPts val="585"/>
              </a:spcBef>
            </a:pPr>
            <a:r>
              <a:rPr dirty="0"/>
              <a:t>Single</a:t>
            </a:r>
            <a:r>
              <a:rPr dirty="0" spc="-60"/>
              <a:t> </a:t>
            </a:r>
            <a:r>
              <a:rPr dirty="0"/>
              <a:t>instruction</a:t>
            </a:r>
            <a:r>
              <a:rPr dirty="0" spc="-50"/>
              <a:t> </a:t>
            </a:r>
            <a:r>
              <a:rPr dirty="0"/>
              <a:t>operates</a:t>
            </a:r>
            <a:r>
              <a:rPr dirty="0" spc="-60"/>
              <a:t> </a:t>
            </a:r>
            <a:r>
              <a:rPr dirty="0" spc="-25"/>
              <a:t>on </a:t>
            </a:r>
            <a:r>
              <a:rPr dirty="0"/>
              <a:t>different</a:t>
            </a:r>
            <a:r>
              <a:rPr dirty="0" spc="-45"/>
              <a:t> </a:t>
            </a:r>
            <a:r>
              <a:rPr dirty="0"/>
              <a:t>data</a:t>
            </a:r>
            <a:r>
              <a:rPr dirty="0" spc="-70"/>
              <a:t> </a:t>
            </a:r>
            <a:r>
              <a:rPr dirty="0" spc="-10"/>
              <a:t>streams</a:t>
            </a:r>
          </a:p>
          <a:p>
            <a:pPr marL="12700" marR="5080">
              <a:lnSpc>
                <a:spcPts val="3890"/>
              </a:lnSpc>
              <a:spcBef>
                <a:spcPts val="1390"/>
              </a:spcBef>
            </a:pPr>
            <a:r>
              <a:rPr dirty="0"/>
              <a:t>Instructions</a:t>
            </a:r>
            <a:r>
              <a:rPr dirty="0" spc="-25"/>
              <a:t> </a:t>
            </a:r>
            <a:r>
              <a:rPr dirty="0"/>
              <a:t>can</a:t>
            </a:r>
            <a:r>
              <a:rPr dirty="0" spc="-20"/>
              <a:t> </a:t>
            </a:r>
            <a:r>
              <a:rPr dirty="0"/>
              <a:t>be</a:t>
            </a:r>
            <a:r>
              <a:rPr dirty="0" spc="-35"/>
              <a:t> </a:t>
            </a:r>
            <a:r>
              <a:rPr dirty="0" spc="-10"/>
              <a:t>executed </a:t>
            </a:r>
            <a:r>
              <a:rPr dirty="0"/>
              <a:t>sequentially</a:t>
            </a:r>
            <a:r>
              <a:rPr dirty="0" spc="-85"/>
              <a:t> </a:t>
            </a:r>
            <a:r>
              <a:rPr dirty="0"/>
              <a:t>(pipelining)</a:t>
            </a:r>
            <a:r>
              <a:rPr dirty="0" spc="-75"/>
              <a:t> </a:t>
            </a:r>
            <a:r>
              <a:rPr dirty="0"/>
              <a:t>or</a:t>
            </a:r>
            <a:r>
              <a:rPr dirty="0" spc="-90"/>
              <a:t> </a:t>
            </a:r>
            <a:r>
              <a:rPr dirty="0" spc="-10"/>
              <a:t>parallel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11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dirty="0"/>
              <a:t>SIMD</a:t>
            </a:r>
            <a:r>
              <a:rPr dirty="0" spc="-65"/>
              <a:t> </a:t>
            </a:r>
            <a:r>
              <a:rPr dirty="0"/>
              <a:t>(SINGLE</a:t>
            </a:r>
            <a:r>
              <a:rPr dirty="0" spc="-70"/>
              <a:t> </a:t>
            </a:r>
            <a:r>
              <a:rPr dirty="0"/>
              <a:t>INSTRUCTION</a:t>
            </a:r>
            <a:r>
              <a:rPr dirty="0" spc="-130"/>
              <a:t> </a:t>
            </a:r>
            <a:r>
              <a:rPr dirty="0"/>
              <a:t>STREAM,</a:t>
            </a:r>
            <a:r>
              <a:rPr dirty="0" spc="-40"/>
              <a:t> </a:t>
            </a:r>
            <a:r>
              <a:rPr dirty="0" spc="-45"/>
              <a:t>MULTIPLE</a:t>
            </a:r>
            <a:r>
              <a:rPr dirty="0" spc="-50"/>
              <a:t> </a:t>
            </a:r>
            <a:r>
              <a:rPr dirty="0" spc="-110"/>
              <a:t>DATA</a:t>
            </a:r>
            <a:r>
              <a:rPr dirty="0" spc="-85"/>
              <a:t> </a:t>
            </a:r>
            <a:r>
              <a:rPr dirty="0" spc="-10"/>
              <a:t>STREAM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1523" y="2002535"/>
            <a:ext cx="4570476" cy="4572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066" y="1889886"/>
            <a:ext cx="7406640" cy="1410970"/>
          </a:xfrm>
          <a:prstGeom prst="rect"/>
        </p:spPr>
        <p:txBody>
          <a:bodyPr wrap="square" lIns="0" tIns="163195" rIns="0" bIns="0" rtlCol="0" vert="horz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1285"/>
              </a:spcBef>
            </a:pPr>
            <a:r>
              <a:rPr dirty="0" sz="3300">
                <a:solidFill>
                  <a:srgbClr val="FFFFFF"/>
                </a:solidFill>
              </a:rPr>
              <a:t>Throughput</a:t>
            </a:r>
            <a:r>
              <a:rPr dirty="0" sz="3300" spc="-5">
                <a:solidFill>
                  <a:srgbClr val="FFFFFF"/>
                </a:solidFill>
              </a:rPr>
              <a:t> </a:t>
            </a:r>
            <a:r>
              <a:rPr dirty="0" sz="3300">
                <a:solidFill>
                  <a:srgbClr val="FFFFFF"/>
                </a:solidFill>
              </a:rPr>
              <a:t>can</a:t>
            </a:r>
            <a:r>
              <a:rPr dirty="0" sz="3300" spc="-50">
                <a:solidFill>
                  <a:srgbClr val="FFFFFF"/>
                </a:solidFill>
              </a:rPr>
              <a:t> </a:t>
            </a:r>
            <a:r>
              <a:rPr dirty="0" sz="3300">
                <a:solidFill>
                  <a:srgbClr val="FFFFFF"/>
                </a:solidFill>
              </a:rPr>
              <a:t>be</a:t>
            </a:r>
            <a:r>
              <a:rPr dirty="0" sz="3300" spc="-55">
                <a:solidFill>
                  <a:srgbClr val="FFFFFF"/>
                </a:solidFill>
              </a:rPr>
              <a:t> </a:t>
            </a:r>
            <a:r>
              <a:rPr dirty="0" sz="3300">
                <a:solidFill>
                  <a:srgbClr val="FFFFFF"/>
                </a:solidFill>
              </a:rPr>
              <a:t>increased</a:t>
            </a:r>
            <a:r>
              <a:rPr dirty="0" sz="3300" spc="-70">
                <a:solidFill>
                  <a:srgbClr val="FFFFFF"/>
                </a:solidFill>
              </a:rPr>
              <a:t> </a:t>
            </a:r>
            <a:r>
              <a:rPr dirty="0" sz="3300">
                <a:solidFill>
                  <a:srgbClr val="FFFFFF"/>
                </a:solidFill>
              </a:rPr>
              <a:t>by</a:t>
            </a:r>
            <a:r>
              <a:rPr dirty="0" sz="3300" spc="-35">
                <a:solidFill>
                  <a:srgbClr val="FFFFFF"/>
                </a:solidFill>
              </a:rPr>
              <a:t> </a:t>
            </a:r>
            <a:r>
              <a:rPr dirty="0" sz="3300" spc="-10">
                <a:solidFill>
                  <a:srgbClr val="FFFFFF"/>
                </a:solidFill>
              </a:rPr>
              <a:t>increasing </a:t>
            </a:r>
            <a:r>
              <a:rPr dirty="0" sz="3300">
                <a:solidFill>
                  <a:srgbClr val="FFFFFF"/>
                </a:solidFill>
              </a:rPr>
              <a:t>cores</a:t>
            </a:r>
            <a:r>
              <a:rPr dirty="0" sz="3300" spc="-50">
                <a:solidFill>
                  <a:srgbClr val="FFFFFF"/>
                </a:solidFill>
              </a:rPr>
              <a:t> </a:t>
            </a:r>
            <a:r>
              <a:rPr dirty="0" sz="3300">
                <a:solidFill>
                  <a:srgbClr val="FFFFFF"/>
                </a:solidFill>
              </a:rPr>
              <a:t>of</a:t>
            </a:r>
            <a:r>
              <a:rPr dirty="0" sz="3300" spc="-35">
                <a:solidFill>
                  <a:srgbClr val="FFFFFF"/>
                </a:solidFill>
              </a:rPr>
              <a:t> </a:t>
            </a:r>
            <a:r>
              <a:rPr dirty="0" sz="3300" spc="-10">
                <a:solidFill>
                  <a:srgbClr val="FFFFFF"/>
                </a:solidFill>
              </a:rPr>
              <a:t>processor</a:t>
            </a:r>
            <a:endParaRPr sz="3300"/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dirty="0" sz="3300">
                <a:solidFill>
                  <a:srgbClr val="FFFFFF"/>
                </a:solidFill>
              </a:rPr>
              <a:t>Processing</a:t>
            </a:r>
            <a:r>
              <a:rPr dirty="0" sz="3300" spc="-40">
                <a:solidFill>
                  <a:srgbClr val="FFFFFF"/>
                </a:solidFill>
              </a:rPr>
              <a:t> </a:t>
            </a:r>
            <a:r>
              <a:rPr dirty="0" sz="3300">
                <a:solidFill>
                  <a:srgbClr val="FFFFFF"/>
                </a:solidFill>
              </a:rPr>
              <a:t>speed</a:t>
            </a:r>
            <a:r>
              <a:rPr dirty="0" sz="3300" spc="-30">
                <a:solidFill>
                  <a:srgbClr val="FFFFFF"/>
                </a:solidFill>
              </a:rPr>
              <a:t> </a:t>
            </a:r>
            <a:r>
              <a:rPr dirty="0" sz="3300">
                <a:solidFill>
                  <a:srgbClr val="FFFFFF"/>
                </a:solidFill>
              </a:rPr>
              <a:t>is</a:t>
            </a:r>
            <a:r>
              <a:rPr dirty="0" sz="3300" spc="-35">
                <a:solidFill>
                  <a:srgbClr val="FFFFFF"/>
                </a:solidFill>
              </a:rPr>
              <a:t> </a:t>
            </a:r>
            <a:r>
              <a:rPr dirty="0" sz="3300">
                <a:solidFill>
                  <a:srgbClr val="FFFFFF"/>
                </a:solidFill>
              </a:rPr>
              <a:t>higher</a:t>
            </a:r>
            <a:r>
              <a:rPr dirty="0" sz="3300" spc="-30">
                <a:solidFill>
                  <a:srgbClr val="FFFFFF"/>
                </a:solidFill>
              </a:rPr>
              <a:t> </a:t>
            </a:r>
            <a:r>
              <a:rPr dirty="0" sz="3300">
                <a:solidFill>
                  <a:srgbClr val="FFFFFF"/>
                </a:solidFill>
              </a:rPr>
              <a:t>than</a:t>
            </a:r>
            <a:r>
              <a:rPr dirty="0" sz="3300" spc="-90">
                <a:solidFill>
                  <a:srgbClr val="FFFFFF"/>
                </a:solidFill>
              </a:rPr>
              <a:t> </a:t>
            </a:r>
            <a:r>
              <a:rPr dirty="0" sz="3300" spc="-20">
                <a:solidFill>
                  <a:srgbClr val="FFFFFF"/>
                </a:solidFill>
              </a:rPr>
              <a:t>SISD</a:t>
            </a:r>
            <a:endParaRPr sz="3300"/>
          </a:p>
        </p:txBody>
      </p:sp>
      <p:sp>
        <p:nvSpPr>
          <p:cNvPr id="4" name="object 4" descr=""/>
          <p:cNvSpPr txBox="1"/>
          <p:nvPr/>
        </p:nvSpPr>
        <p:spPr>
          <a:xfrm>
            <a:off x="328066" y="3302330"/>
            <a:ext cx="7280275" cy="3352165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2700" marR="5080">
              <a:lnSpc>
                <a:spcPct val="70100"/>
              </a:lnSpc>
              <a:spcBef>
                <a:spcPts val="1285"/>
              </a:spcBef>
            </a:pP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Efficient</a:t>
            </a:r>
            <a:r>
              <a:rPr dirty="0" sz="33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where</a:t>
            </a:r>
            <a:r>
              <a:rPr dirty="0" sz="33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you</a:t>
            </a:r>
            <a:r>
              <a:rPr dirty="0" sz="33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need</a:t>
            </a:r>
            <a:r>
              <a:rPr dirty="0" sz="33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33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perform</a:t>
            </a:r>
            <a:r>
              <a:rPr dirty="0" sz="33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20">
                <a:solidFill>
                  <a:srgbClr val="FFFFFF"/>
                </a:solidFill>
                <a:latin typeface="Corbel"/>
                <a:cs typeface="Corbel"/>
              </a:rPr>
              <a:t>same </a:t>
            </a:r>
            <a:r>
              <a:rPr dirty="0" sz="3300" spc="-10">
                <a:solidFill>
                  <a:srgbClr val="FFFFFF"/>
                </a:solidFill>
                <a:latin typeface="Corbel"/>
                <a:cs typeface="Corbel"/>
              </a:rPr>
              <a:t>instructions</a:t>
            </a:r>
            <a:r>
              <a:rPr dirty="0" sz="33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on</a:t>
            </a:r>
            <a:r>
              <a:rPr dirty="0" sz="33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large</a:t>
            </a:r>
            <a:r>
              <a:rPr dirty="0" sz="3300" spc="-7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amount</a:t>
            </a:r>
            <a:r>
              <a:rPr dirty="0" sz="33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33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300" spc="-2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endParaRPr sz="3300">
              <a:latin typeface="Corbel"/>
              <a:cs typeface="Corbel"/>
            </a:endParaRPr>
          </a:p>
          <a:p>
            <a:pPr marL="12700" marR="1030605">
              <a:lnSpc>
                <a:spcPct val="70000"/>
              </a:lnSpc>
              <a:spcBef>
                <a:spcPts val="1390"/>
              </a:spcBef>
            </a:pPr>
            <a:r>
              <a:rPr dirty="0" sz="3300">
                <a:solidFill>
                  <a:srgbClr val="FF0000"/>
                </a:solidFill>
                <a:latin typeface="Corbel"/>
                <a:cs typeface="Corbel"/>
              </a:rPr>
              <a:t>Complex</a:t>
            </a:r>
            <a:r>
              <a:rPr dirty="0" sz="3300" spc="-12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 spc="-10">
                <a:solidFill>
                  <a:srgbClr val="FF0000"/>
                </a:solidFill>
                <a:latin typeface="Corbel"/>
                <a:cs typeface="Corbel"/>
              </a:rPr>
              <a:t>communication</a:t>
            </a:r>
            <a:r>
              <a:rPr dirty="0" sz="3300" spc="-11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0000"/>
                </a:solidFill>
                <a:latin typeface="Corbel"/>
                <a:cs typeface="Corbel"/>
              </a:rPr>
              <a:t>protocol</a:t>
            </a:r>
            <a:r>
              <a:rPr dirty="0" sz="3300" spc="-105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 spc="-25">
                <a:solidFill>
                  <a:srgbClr val="FF0000"/>
                </a:solidFill>
                <a:latin typeface="Corbel"/>
                <a:cs typeface="Corbel"/>
              </a:rPr>
              <a:t>is </a:t>
            </a:r>
            <a:r>
              <a:rPr dirty="0" sz="3300" spc="-10">
                <a:solidFill>
                  <a:srgbClr val="FF0000"/>
                </a:solidFill>
                <a:latin typeface="Corbel"/>
                <a:cs typeface="Corbel"/>
              </a:rPr>
              <a:t>required</a:t>
            </a:r>
            <a:endParaRPr sz="3300">
              <a:latin typeface="Corbel"/>
              <a:cs typeface="Corbel"/>
            </a:endParaRPr>
          </a:p>
          <a:p>
            <a:pPr marL="12700" marR="2087245">
              <a:lnSpc>
                <a:spcPct val="105400"/>
              </a:lnSpc>
              <a:spcBef>
                <a:spcPts val="5"/>
              </a:spcBef>
            </a:pPr>
            <a:r>
              <a:rPr dirty="0" sz="3300">
                <a:solidFill>
                  <a:srgbClr val="FF0000"/>
                </a:solidFill>
                <a:latin typeface="Corbel"/>
                <a:cs typeface="Corbel"/>
              </a:rPr>
              <a:t>Cost</a:t>
            </a:r>
            <a:r>
              <a:rPr dirty="0" sz="3300" spc="-35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0000"/>
                </a:solidFill>
                <a:latin typeface="Corbel"/>
                <a:cs typeface="Corbel"/>
              </a:rPr>
              <a:t>is</a:t>
            </a:r>
            <a:r>
              <a:rPr dirty="0" sz="3300" spc="-5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0000"/>
                </a:solidFill>
                <a:latin typeface="Corbel"/>
                <a:cs typeface="Corbel"/>
              </a:rPr>
              <a:t>higher</a:t>
            </a:r>
            <a:r>
              <a:rPr dirty="0" sz="3300" spc="-5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0000"/>
                </a:solidFill>
                <a:latin typeface="Corbel"/>
                <a:cs typeface="Corbel"/>
              </a:rPr>
              <a:t>than</a:t>
            </a:r>
            <a:r>
              <a:rPr dirty="0" sz="3300" spc="-12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 spc="-20">
                <a:solidFill>
                  <a:srgbClr val="FF0000"/>
                </a:solidFill>
                <a:latin typeface="Corbel"/>
                <a:cs typeface="Corbel"/>
              </a:rPr>
              <a:t>SISD </a:t>
            </a:r>
            <a:r>
              <a:rPr dirty="0" sz="3300">
                <a:solidFill>
                  <a:srgbClr val="FF0000"/>
                </a:solidFill>
                <a:latin typeface="Corbel"/>
                <a:cs typeface="Corbel"/>
              </a:rPr>
              <a:t>Limited</a:t>
            </a:r>
            <a:r>
              <a:rPr dirty="0" sz="3300" spc="-45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0000"/>
                </a:solidFill>
                <a:latin typeface="Corbel"/>
                <a:cs typeface="Corbel"/>
              </a:rPr>
              <a:t>to</a:t>
            </a:r>
            <a:r>
              <a:rPr dirty="0" sz="3300" spc="-2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0000"/>
                </a:solidFill>
                <a:latin typeface="Corbel"/>
                <a:cs typeface="Corbel"/>
              </a:rPr>
              <a:t>specific</a:t>
            </a:r>
            <a:r>
              <a:rPr dirty="0" sz="3300" spc="-3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 spc="-10">
                <a:solidFill>
                  <a:srgbClr val="FF0000"/>
                </a:solidFill>
                <a:latin typeface="Corbel"/>
                <a:cs typeface="Corbel"/>
              </a:rPr>
              <a:t>application</a:t>
            </a:r>
            <a:endParaRPr sz="33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3300" spc="-20">
                <a:solidFill>
                  <a:srgbClr val="FF0000"/>
                </a:solidFill>
                <a:latin typeface="Corbel"/>
                <a:cs typeface="Corbel"/>
              </a:rPr>
              <a:t>Uses:</a:t>
            </a:r>
            <a:r>
              <a:rPr dirty="0" sz="3300" spc="-15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>
                <a:solidFill>
                  <a:srgbClr val="FF0000"/>
                </a:solidFill>
                <a:latin typeface="Corbel"/>
                <a:cs typeface="Corbel"/>
              </a:rPr>
              <a:t>GPUs/Scientific</a:t>
            </a:r>
            <a:r>
              <a:rPr dirty="0" sz="3300" spc="-65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3300" spc="-10">
                <a:solidFill>
                  <a:srgbClr val="FF0000"/>
                </a:solidFill>
                <a:latin typeface="Corbel"/>
                <a:cs typeface="Corbel"/>
              </a:rPr>
              <a:t>Processing</a:t>
            </a:r>
            <a:endParaRPr sz="3300">
              <a:latin typeface="Corbel"/>
              <a:cs typeface="Corbe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28066" y="722757"/>
            <a:ext cx="1119759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99BDD"/>
                </a:solidFill>
                <a:latin typeface="Corbel"/>
                <a:cs typeface="Corbel"/>
              </a:rPr>
              <a:t>SIMD</a:t>
            </a:r>
            <a:r>
              <a:rPr dirty="0" sz="3200" spc="-65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dirty="0" sz="3200">
                <a:solidFill>
                  <a:srgbClr val="099BDD"/>
                </a:solidFill>
                <a:latin typeface="Corbel"/>
                <a:cs typeface="Corbel"/>
              </a:rPr>
              <a:t>(SINGLE</a:t>
            </a:r>
            <a:r>
              <a:rPr dirty="0" sz="3200" spc="-7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dirty="0" sz="3200">
                <a:solidFill>
                  <a:srgbClr val="099BDD"/>
                </a:solidFill>
                <a:latin typeface="Corbel"/>
                <a:cs typeface="Corbel"/>
              </a:rPr>
              <a:t>INSTRUCTION</a:t>
            </a:r>
            <a:r>
              <a:rPr dirty="0" sz="3200" spc="-13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dirty="0" sz="3200">
                <a:solidFill>
                  <a:srgbClr val="099BDD"/>
                </a:solidFill>
                <a:latin typeface="Corbel"/>
                <a:cs typeface="Corbel"/>
              </a:rPr>
              <a:t>STREAM,</a:t>
            </a:r>
            <a:r>
              <a:rPr dirty="0" sz="3200" spc="-4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dirty="0" sz="3200" spc="-45">
                <a:solidFill>
                  <a:srgbClr val="099BDD"/>
                </a:solidFill>
                <a:latin typeface="Corbel"/>
                <a:cs typeface="Corbel"/>
              </a:rPr>
              <a:t>MULTIPLE</a:t>
            </a:r>
            <a:r>
              <a:rPr dirty="0" sz="3200" spc="-5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dirty="0" sz="3200" spc="-110">
                <a:solidFill>
                  <a:srgbClr val="099BDD"/>
                </a:solidFill>
                <a:latin typeface="Corbel"/>
                <a:cs typeface="Corbel"/>
              </a:rPr>
              <a:t>DATA</a:t>
            </a:r>
            <a:r>
              <a:rPr dirty="0" sz="3200" spc="-85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dirty="0" sz="3200" spc="-10">
                <a:solidFill>
                  <a:srgbClr val="099BDD"/>
                </a:solidFill>
                <a:latin typeface="Corbel"/>
                <a:cs typeface="Corbel"/>
              </a:rPr>
              <a:t>STREAM</a:t>
            </a:r>
            <a:endParaRPr sz="3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4468" y="1935479"/>
            <a:ext cx="4637532" cy="463905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44500" y="1961515"/>
            <a:ext cx="7055484" cy="272669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 marR="839469">
              <a:lnSpc>
                <a:spcPts val="3890"/>
              </a:lnSpc>
              <a:spcBef>
                <a:spcPts val="585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Multiple</a:t>
            </a:r>
            <a:r>
              <a:rPr dirty="0" sz="3600" spc="-7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instructions</a:t>
            </a:r>
            <a:r>
              <a:rPr dirty="0" sz="36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operates</a:t>
            </a:r>
            <a:r>
              <a:rPr dirty="0" sz="3600" spc="-7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on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only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one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stream</a:t>
            </a:r>
            <a:endParaRPr sz="3600">
              <a:latin typeface="Corbel"/>
              <a:cs typeface="Corbel"/>
            </a:endParaRPr>
          </a:p>
          <a:p>
            <a:pPr marL="12700" marR="5080">
              <a:lnSpc>
                <a:spcPts val="3890"/>
              </a:lnSpc>
              <a:spcBef>
                <a:spcPts val="1390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Processing</a:t>
            </a:r>
            <a:r>
              <a:rPr dirty="0" sz="36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units</a:t>
            </a:r>
            <a:r>
              <a:rPr dirty="0" sz="3600" spc="-7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performing</a:t>
            </a:r>
            <a:r>
              <a:rPr dirty="0" sz="36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different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operations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by</a:t>
            </a:r>
            <a:r>
              <a:rPr dirty="0" sz="36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executing</a:t>
            </a:r>
            <a:r>
              <a:rPr dirty="0" sz="36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different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instructions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on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same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set</a:t>
            </a:r>
            <a:endParaRPr sz="3600">
              <a:latin typeface="Corbel"/>
              <a:cs typeface="Corbe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11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dirty="0"/>
              <a:t>MISD</a:t>
            </a:r>
            <a:r>
              <a:rPr dirty="0" spc="-50"/>
              <a:t> </a:t>
            </a:r>
            <a:r>
              <a:rPr dirty="0" spc="-40"/>
              <a:t>(MULTIPLE </a:t>
            </a:r>
            <a:r>
              <a:rPr dirty="0"/>
              <a:t>INSTRUCTION</a:t>
            </a:r>
            <a:r>
              <a:rPr dirty="0" spc="-125"/>
              <a:t> </a:t>
            </a:r>
            <a:r>
              <a:rPr dirty="0"/>
              <a:t>STREAM,</a:t>
            </a:r>
            <a:r>
              <a:rPr dirty="0" spc="-110"/>
              <a:t> </a:t>
            </a:r>
            <a:r>
              <a:rPr dirty="0"/>
              <a:t>SINGLE</a:t>
            </a:r>
            <a:r>
              <a:rPr dirty="0" spc="-60"/>
              <a:t> </a:t>
            </a:r>
            <a:r>
              <a:rPr dirty="0" spc="-110"/>
              <a:t>DATA</a:t>
            </a:r>
            <a:r>
              <a:rPr dirty="0" spc="-85"/>
              <a:t> </a:t>
            </a:r>
            <a:r>
              <a:rPr dirty="0" spc="-10"/>
              <a:t>STREAM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4468" y="1935479"/>
            <a:ext cx="4637532" cy="4639056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6214" rIns="0" bIns="0" rtlCol="0" vert="horz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/>
              <a:t>Uncommon</a:t>
            </a:r>
            <a:r>
              <a:rPr dirty="0" spc="-60"/>
              <a:t> </a:t>
            </a:r>
            <a:r>
              <a:rPr dirty="0"/>
              <a:t>architecture</a:t>
            </a:r>
            <a:r>
              <a:rPr dirty="0" spc="-80"/>
              <a:t> </a:t>
            </a:r>
            <a:r>
              <a:rPr dirty="0"/>
              <a:t>which</a:t>
            </a:r>
            <a:r>
              <a:rPr dirty="0" spc="-95"/>
              <a:t> </a:t>
            </a:r>
            <a:r>
              <a:rPr dirty="0" spc="-25"/>
              <a:t>is </a:t>
            </a:r>
            <a:r>
              <a:rPr dirty="0"/>
              <a:t>generally</a:t>
            </a:r>
            <a:r>
              <a:rPr dirty="0" spc="-40"/>
              <a:t> </a:t>
            </a:r>
            <a:r>
              <a:rPr dirty="0"/>
              <a:t>used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/>
              <a:t>fault</a:t>
            </a:r>
            <a:r>
              <a:rPr dirty="0" spc="-45"/>
              <a:t> </a:t>
            </a:r>
            <a:r>
              <a:rPr dirty="0" spc="-10"/>
              <a:t>tolerance.</a:t>
            </a: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/>
              <a:t>Operate</a:t>
            </a:r>
            <a:r>
              <a:rPr dirty="0" spc="-25"/>
              <a:t> </a:t>
            </a:r>
            <a:r>
              <a:rPr dirty="0"/>
              <a:t>on</a:t>
            </a:r>
            <a:r>
              <a:rPr dirty="0" spc="-20"/>
              <a:t> </a:t>
            </a:r>
            <a:r>
              <a:rPr dirty="0"/>
              <a:t>same</a:t>
            </a:r>
            <a:r>
              <a:rPr dirty="0" spc="-15"/>
              <a:t> </a:t>
            </a:r>
            <a:r>
              <a:rPr dirty="0"/>
              <a:t>data</a:t>
            </a:r>
            <a:r>
              <a:rPr dirty="0" spc="-30"/>
              <a:t> </a:t>
            </a:r>
            <a:r>
              <a:rPr dirty="0" spc="-10"/>
              <a:t>stream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11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dirty="0"/>
              <a:t>MISD</a:t>
            </a:r>
            <a:r>
              <a:rPr dirty="0" spc="-50"/>
              <a:t> </a:t>
            </a:r>
            <a:r>
              <a:rPr dirty="0" spc="-40"/>
              <a:t>(MULTIPLE </a:t>
            </a:r>
            <a:r>
              <a:rPr dirty="0"/>
              <a:t>INSTRUCTION</a:t>
            </a:r>
            <a:r>
              <a:rPr dirty="0" spc="-125"/>
              <a:t> </a:t>
            </a:r>
            <a:r>
              <a:rPr dirty="0"/>
              <a:t>STREAM,</a:t>
            </a:r>
            <a:r>
              <a:rPr dirty="0" spc="-110"/>
              <a:t> </a:t>
            </a:r>
            <a:r>
              <a:rPr dirty="0"/>
              <a:t>SINGLE</a:t>
            </a:r>
            <a:r>
              <a:rPr dirty="0" spc="-60"/>
              <a:t> </a:t>
            </a:r>
            <a:r>
              <a:rPr dirty="0" spc="-110"/>
              <a:t>DATA</a:t>
            </a:r>
            <a:r>
              <a:rPr dirty="0" spc="-85"/>
              <a:t> </a:t>
            </a:r>
            <a:r>
              <a:rPr dirty="0" spc="-10"/>
              <a:t>STREAM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4468" y="1935479"/>
            <a:ext cx="4637532" cy="4639056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6214" rIns="0" bIns="0" rtlCol="0" vert="horz">
            <a:spAutoFit/>
          </a:bodyPr>
          <a:lstStyle/>
          <a:p>
            <a:pPr marL="12700" marR="1263650">
              <a:lnSpc>
                <a:spcPts val="3890"/>
              </a:lnSpc>
              <a:spcBef>
                <a:spcPts val="585"/>
              </a:spcBef>
            </a:pPr>
            <a:r>
              <a:rPr dirty="0"/>
              <a:t>Useful</a:t>
            </a:r>
            <a:r>
              <a:rPr dirty="0" spc="-35"/>
              <a:t> </a:t>
            </a:r>
            <a:r>
              <a:rPr dirty="0"/>
              <a:t>where</a:t>
            </a:r>
            <a:r>
              <a:rPr dirty="0" spc="-55"/>
              <a:t> </a:t>
            </a:r>
            <a:r>
              <a:rPr dirty="0"/>
              <a:t>real</a:t>
            </a:r>
            <a:r>
              <a:rPr dirty="0" spc="-30"/>
              <a:t> </a:t>
            </a:r>
            <a:r>
              <a:rPr dirty="0"/>
              <a:t>time</a:t>
            </a:r>
            <a:r>
              <a:rPr dirty="0" spc="-30"/>
              <a:t> </a:t>
            </a:r>
            <a:r>
              <a:rPr dirty="0" spc="-10"/>
              <a:t>fault </a:t>
            </a:r>
            <a:r>
              <a:rPr dirty="0"/>
              <a:t>detection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 spc="-10"/>
              <a:t>critical</a:t>
            </a:r>
          </a:p>
          <a:p>
            <a:pPr marL="12700" marR="5080">
              <a:lnSpc>
                <a:spcPts val="3890"/>
              </a:lnSpc>
              <a:spcBef>
                <a:spcPts val="1390"/>
              </a:spcBef>
            </a:pPr>
            <a:r>
              <a:rPr dirty="0">
                <a:solidFill>
                  <a:srgbClr val="FF0000"/>
                </a:solidFill>
              </a:rPr>
              <a:t>Limited</a:t>
            </a:r>
            <a:r>
              <a:rPr dirty="0" spc="-3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applications,</a:t>
            </a:r>
            <a:r>
              <a:rPr dirty="0" spc="-3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not</a:t>
            </a:r>
            <a:r>
              <a:rPr dirty="0" spc="-15">
                <a:solidFill>
                  <a:srgbClr val="FF0000"/>
                </a:solidFill>
              </a:rPr>
              <a:t> </a:t>
            </a:r>
            <a:r>
              <a:rPr dirty="0" spc="-10">
                <a:solidFill>
                  <a:srgbClr val="FF0000"/>
                </a:solidFill>
              </a:rPr>
              <a:t>available commercially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11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dirty="0"/>
              <a:t>MISD</a:t>
            </a:r>
            <a:r>
              <a:rPr dirty="0" spc="-50"/>
              <a:t> </a:t>
            </a:r>
            <a:r>
              <a:rPr dirty="0" spc="-40"/>
              <a:t>(MULTIPLE </a:t>
            </a:r>
            <a:r>
              <a:rPr dirty="0"/>
              <a:t>INSTRUCTION</a:t>
            </a:r>
            <a:r>
              <a:rPr dirty="0" spc="-125"/>
              <a:t> </a:t>
            </a:r>
            <a:r>
              <a:rPr dirty="0"/>
              <a:t>STREAM,</a:t>
            </a:r>
            <a:r>
              <a:rPr dirty="0" spc="-110"/>
              <a:t> </a:t>
            </a:r>
            <a:r>
              <a:rPr dirty="0"/>
              <a:t>SINGLE</a:t>
            </a:r>
            <a:r>
              <a:rPr dirty="0" spc="-60"/>
              <a:t> </a:t>
            </a:r>
            <a:r>
              <a:rPr dirty="0" spc="-110"/>
              <a:t>DATA</a:t>
            </a:r>
            <a:r>
              <a:rPr dirty="0" spc="-85"/>
              <a:t> </a:t>
            </a:r>
            <a:r>
              <a:rPr dirty="0" spc="-10"/>
              <a:t>STREAM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4176" y="2005583"/>
            <a:ext cx="4687824" cy="46878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1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MIMD</a:t>
            </a:r>
            <a:r>
              <a:rPr dirty="0" spc="-25"/>
              <a:t> </a:t>
            </a:r>
            <a:r>
              <a:rPr dirty="0" spc="-35"/>
              <a:t>(MULTIPLE</a:t>
            </a:r>
            <a:r>
              <a:rPr dirty="0"/>
              <a:t> INSTRUCTION</a:t>
            </a:r>
            <a:r>
              <a:rPr dirty="0" spc="-130"/>
              <a:t> </a:t>
            </a:r>
            <a:r>
              <a:rPr dirty="0" spc="-50"/>
              <a:t>STREAM,MULTIPLEDATA</a:t>
            </a:r>
            <a:r>
              <a:rPr dirty="0" spc="-100"/>
              <a:t> </a:t>
            </a:r>
            <a:r>
              <a:rPr dirty="0" spc="-10"/>
              <a:t>STREAM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6900" y="2113915"/>
            <a:ext cx="7055484" cy="3399154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 marR="839469">
              <a:lnSpc>
                <a:spcPts val="3890"/>
              </a:lnSpc>
              <a:spcBef>
                <a:spcPts val="585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Multiple</a:t>
            </a:r>
            <a:r>
              <a:rPr dirty="0" sz="3600" spc="-7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instructions</a:t>
            </a:r>
            <a:r>
              <a:rPr dirty="0" sz="36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operates</a:t>
            </a:r>
            <a:r>
              <a:rPr dirty="0" sz="3600" spc="-7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on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only</a:t>
            </a:r>
            <a:r>
              <a:rPr dirty="0" sz="36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multiple</a:t>
            </a:r>
            <a:r>
              <a:rPr dirty="0" sz="36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dirty="0" sz="36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stream</a:t>
            </a:r>
            <a:endParaRPr sz="36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2230"/>
              </a:spcBef>
            </a:pPr>
            <a:endParaRPr sz="3600">
              <a:latin typeface="Corbel"/>
              <a:cs typeface="Corbel"/>
            </a:endParaRPr>
          </a:p>
          <a:p>
            <a:pPr marL="12700" marR="5080">
              <a:lnSpc>
                <a:spcPct val="90000"/>
              </a:lnSpc>
              <a:spcBef>
                <a:spcPts val="5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Processing</a:t>
            </a:r>
            <a:r>
              <a:rPr dirty="0" sz="36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units</a:t>
            </a:r>
            <a:r>
              <a:rPr dirty="0" sz="36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performing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different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operations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by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executing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different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instructions</a:t>
            </a:r>
            <a:r>
              <a:rPr dirty="0" sz="36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on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different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set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4176" y="2005583"/>
            <a:ext cx="4687824" cy="46878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1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MIMD</a:t>
            </a:r>
            <a:r>
              <a:rPr dirty="0" spc="-25"/>
              <a:t> </a:t>
            </a:r>
            <a:r>
              <a:rPr dirty="0" spc="-35"/>
              <a:t>(MULTIPLE</a:t>
            </a:r>
            <a:r>
              <a:rPr dirty="0"/>
              <a:t> INSTRUCTION</a:t>
            </a:r>
            <a:r>
              <a:rPr dirty="0" spc="-130"/>
              <a:t> </a:t>
            </a:r>
            <a:r>
              <a:rPr dirty="0" spc="-50"/>
              <a:t>STREAM,MULTIPLEDATA</a:t>
            </a:r>
            <a:r>
              <a:rPr dirty="0" spc="-100"/>
              <a:t> </a:t>
            </a:r>
            <a:r>
              <a:rPr dirty="0" spc="-10"/>
              <a:t>STREAM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6900" y="2113915"/>
            <a:ext cx="6985634" cy="3576954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 marR="2058035">
              <a:lnSpc>
                <a:spcPts val="3890"/>
              </a:lnSpc>
              <a:spcBef>
                <a:spcPts val="585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Great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for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situations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where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multitasking</a:t>
            </a:r>
            <a:r>
              <a:rPr dirty="0" sz="3600" spc="-9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r>
              <a:rPr dirty="0" sz="3600" spc="-10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required.</a:t>
            </a:r>
            <a:endParaRPr sz="36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sz="36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Much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more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complicated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architecture</a:t>
            </a:r>
            <a:endParaRPr sz="3600">
              <a:latin typeface="Corbel"/>
              <a:cs typeface="Corbel"/>
            </a:endParaRPr>
          </a:p>
          <a:p>
            <a:pPr marL="12700" marR="1011555">
              <a:lnSpc>
                <a:spcPts val="3890"/>
              </a:lnSpc>
              <a:spcBef>
                <a:spcPts val="1460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Uses:</a:t>
            </a:r>
            <a:r>
              <a:rPr dirty="0" sz="3600" spc="-1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Smart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PCs,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Laptop,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smart phones.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4176" y="2005583"/>
            <a:ext cx="4687824" cy="46878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11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MIMD(MULTIPLE</a:t>
            </a:r>
            <a:r>
              <a:rPr dirty="0" spc="-15"/>
              <a:t> </a:t>
            </a:r>
            <a:r>
              <a:rPr dirty="0"/>
              <a:t>INSTRUCTION</a:t>
            </a:r>
            <a:r>
              <a:rPr dirty="0" spc="-85"/>
              <a:t> </a:t>
            </a:r>
            <a:r>
              <a:rPr dirty="0" spc="-50"/>
              <a:t>STREAM,MULTIPLEDATA</a:t>
            </a:r>
            <a:r>
              <a:rPr dirty="0" spc="-95"/>
              <a:t> </a:t>
            </a:r>
            <a:r>
              <a:rPr dirty="0" spc="-10"/>
              <a:t>STREAM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6900" y="1991995"/>
            <a:ext cx="5855335" cy="203898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1060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Categorized</a:t>
            </a:r>
            <a:r>
              <a:rPr dirty="0" sz="3600" spc="-9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into</a:t>
            </a:r>
            <a:r>
              <a:rPr dirty="0" sz="3600" spc="-8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two</a:t>
            </a:r>
            <a:r>
              <a:rPr dirty="0" sz="3600" spc="-10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types:</a:t>
            </a:r>
            <a:endParaRPr sz="3600">
              <a:latin typeface="Corbel"/>
              <a:cs typeface="Corbel"/>
            </a:endParaRPr>
          </a:p>
          <a:p>
            <a:pPr marL="756285" indent="-743585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756285" algn="l"/>
              </a:tabLst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Share</a:t>
            </a:r>
            <a:r>
              <a:rPr dirty="0" sz="3600" spc="-8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memory</a:t>
            </a:r>
            <a:r>
              <a:rPr dirty="0" sz="36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MIMD</a:t>
            </a:r>
            <a:endParaRPr sz="3600">
              <a:latin typeface="Corbel"/>
              <a:cs typeface="Corbel"/>
            </a:endParaRPr>
          </a:p>
          <a:p>
            <a:pPr marL="756285" indent="-743585">
              <a:lnSpc>
                <a:spcPct val="100000"/>
              </a:lnSpc>
              <a:spcBef>
                <a:spcPts val="969"/>
              </a:spcBef>
              <a:buAutoNum type="arabicPeriod"/>
              <a:tabLst>
                <a:tab pos="756285" algn="l"/>
              </a:tabLst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Distributed</a:t>
            </a:r>
            <a:r>
              <a:rPr dirty="0" sz="3600" spc="-7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memory</a:t>
            </a:r>
            <a:r>
              <a:rPr dirty="0" sz="3600" spc="-7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MIMD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11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MIMD(MULTIPLE</a:t>
            </a:r>
            <a:r>
              <a:rPr dirty="0" spc="-15"/>
              <a:t> </a:t>
            </a:r>
            <a:r>
              <a:rPr dirty="0"/>
              <a:t>INSTRUCTION</a:t>
            </a:r>
            <a:r>
              <a:rPr dirty="0" spc="-85"/>
              <a:t> </a:t>
            </a:r>
            <a:r>
              <a:rPr dirty="0" spc="-50"/>
              <a:t>STREAM,MULTIPLEDATA</a:t>
            </a:r>
            <a:r>
              <a:rPr dirty="0" spc="-95"/>
              <a:t> </a:t>
            </a:r>
            <a:r>
              <a:rPr dirty="0" spc="-10"/>
              <a:t>STREAM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6900" y="1991995"/>
            <a:ext cx="11198860" cy="35210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3600" b="1">
                <a:solidFill>
                  <a:srgbClr val="FFFFFF"/>
                </a:solidFill>
                <a:latin typeface="Corbel"/>
                <a:cs typeface="Corbel"/>
              </a:rPr>
              <a:t>Share</a:t>
            </a:r>
            <a:r>
              <a:rPr dirty="0" sz="3600" spc="-5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b="1">
                <a:solidFill>
                  <a:srgbClr val="FFFFFF"/>
                </a:solidFill>
                <a:latin typeface="Corbel"/>
                <a:cs typeface="Corbel"/>
              </a:rPr>
              <a:t>memory</a:t>
            </a:r>
            <a:r>
              <a:rPr dirty="0" sz="3600" spc="-6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Corbel"/>
                <a:cs typeface="Corbel"/>
              </a:rPr>
              <a:t>MIMD:</a:t>
            </a:r>
            <a:endParaRPr sz="3600">
              <a:latin typeface="Corbel"/>
              <a:cs typeface="Corbel"/>
            </a:endParaRPr>
          </a:p>
          <a:p>
            <a:pPr marL="12700" marR="5080">
              <a:lnSpc>
                <a:spcPts val="3890"/>
              </a:lnSpc>
              <a:spcBef>
                <a:spcPts val="1445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Tightly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coupled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multiprocessor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systems,</a:t>
            </a:r>
            <a:r>
              <a:rPr dirty="0" sz="36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all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processors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are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connected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single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global</a:t>
            </a:r>
            <a:r>
              <a:rPr dirty="0" sz="36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memory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they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have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access</a:t>
            </a:r>
            <a:r>
              <a:rPr dirty="0" sz="36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to it.</a:t>
            </a:r>
            <a:endParaRPr sz="3600">
              <a:latin typeface="Corbel"/>
              <a:cs typeface="Corbel"/>
            </a:endParaRPr>
          </a:p>
          <a:p>
            <a:pPr marL="12700" marR="798830">
              <a:lnSpc>
                <a:spcPts val="3890"/>
              </a:lnSpc>
              <a:spcBef>
                <a:spcPts val="1400"/>
              </a:spcBef>
            </a:pP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Modification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by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one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processors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accessible</a:t>
            </a:r>
            <a:r>
              <a:rPr dirty="0" sz="3600" spc="-7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all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other processors.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11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MIMD(MULTIPLE</a:t>
            </a:r>
            <a:r>
              <a:rPr dirty="0" spc="-15"/>
              <a:t> </a:t>
            </a:r>
            <a:r>
              <a:rPr dirty="0"/>
              <a:t>INSTRUCTION</a:t>
            </a:r>
            <a:r>
              <a:rPr dirty="0" spc="-85"/>
              <a:t> </a:t>
            </a:r>
            <a:r>
              <a:rPr dirty="0" spc="-50"/>
              <a:t>STREAM,MULTIPLEDATA</a:t>
            </a:r>
            <a:r>
              <a:rPr dirty="0" spc="-95"/>
              <a:t> </a:t>
            </a:r>
            <a:r>
              <a:rPr dirty="0" spc="-10"/>
              <a:t>STREAM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6900" y="1991995"/>
            <a:ext cx="10847705" cy="253301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3600" spc="-10" b="1">
                <a:solidFill>
                  <a:srgbClr val="FFFFFF"/>
                </a:solidFill>
                <a:latin typeface="Corbel"/>
                <a:cs typeface="Corbel"/>
              </a:rPr>
              <a:t>Distributed</a:t>
            </a:r>
            <a:r>
              <a:rPr dirty="0" sz="3600" spc="-5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b="1">
                <a:solidFill>
                  <a:srgbClr val="FFFFFF"/>
                </a:solidFill>
                <a:latin typeface="Corbel"/>
                <a:cs typeface="Corbel"/>
              </a:rPr>
              <a:t>memory</a:t>
            </a:r>
            <a:r>
              <a:rPr dirty="0" sz="3600" spc="-6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Corbel"/>
                <a:cs typeface="Corbel"/>
              </a:rPr>
              <a:t>MIMD:</a:t>
            </a:r>
            <a:endParaRPr sz="3600">
              <a:latin typeface="Corbel"/>
              <a:cs typeface="Corbel"/>
            </a:endParaRPr>
          </a:p>
          <a:p>
            <a:pPr marL="12700" marR="468630">
              <a:lnSpc>
                <a:spcPts val="3890"/>
              </a:lnSpc>
              <a:spcBef>
                <a:spcPts val="1445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Loosely</a:t>
            </a:r>
            <a:r>
              <a:rPr dirty="0" sz="36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coupled</a:t>
            </a:r>
            <a:r>
              <a:rPr dirty="0" sz="36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multiprocessor</a:t>
            </a:r>
            <a:r>
              <a:rPr dirty="0" sz="36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systems,</a:t>
            </a:r>
            <a:r>
              <a:rPr dirty="0" sz="36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all</a:t>
            </a:r>
            <a:r>
              <a:rPr dirty="0" sz="36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processors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have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local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memory</a:t>
            </a:r>
            <a:endParaRPr sz="36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Communication</a:t>
            </a:r>
            <a:r>
              <a:rPr dirty="0" sz="36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r>
              <a:rPr dirty="0" sz="36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done</a:t>
            </a:r>
            <a:r>
              <a:rPr dirty="0" sz="36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through</a:t>
            </a:r>
            <a:r>
              <a:rPr dirty="0" sz="36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interconnection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network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8066" y="722757"/>
            <a:ext cx="115201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30">
                <a:solidFill>
                  <a:srgbClr val="099BDD"/>
                </a:solidFill>
                <a:latin typeface="Corbel"/>
                <a:cs typeface="Corbel"/>
              </a:rPr>
              <a:t>MIMD(MULTIPLE</a:t>
            </a:r>
            <a:r>
              <a:rPr dirty="0" sz="3200" spc="-15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dirty="0" sz="3200">
                <a:solidFill>
                  <a:srgbClr val="099BDD"/>
                </a:solidFill>
                <a:latin typeface="Corbel"/>
                <a:cs typeface="Corbel"/>
              </a:rPr>
              <a:t>INSTRUCTION</a:t>
            </a:r>
            <a:r>
              <a:rPr dirty="0" sz="3200" spc="-85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dirty="0" sz="3200" spc="-50">
                <a:solidFill>
                  <a:srgbClr val="099BDD"/>
                </a:solidFill>
                <a:latin typeface="Corbel"/>
                <a:cs typeface="Corbel"/>
              </a:rPr>
              <a:t>STREAM,MULTIPLEDATA</a:t>
            </a:r>
            <a:r>
              <a:rPr dirty="0" sz="3200" spc="-95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dirty="0" sz="3200" spc="-10">
                <a:solidFill>
                  <a:srgbClr val="099BDD"/>
                </a:solidFill>
                <a:latin typeface="Corbel"/>
                <a:cs typeface="Corbel"/>
              </a:rPr>
              <a:t>STREAM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600" y="2113915"/>
            <a:ext cx="43554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Corbel"/>
                <a:cs typeface="Corbel"/>
              </a:rPr>
              <a:t>Share</a:t>
            </a:r>
            <a:r>
              <a:rPr dirty="0" sz="3600" spc="-5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b="1">
                <a:solidFill>
                  <a:srgbClr val="FFFFFF"/>
                </a:solidFill>
                <a:latin typeface="Corbel"/>
                <a:cs typeface="Corbel"/>
              </a:rPr>
              <a:t>memory</a:t>
            </a:r>
            <a:r>
              <a:rPr dirty="0" sz="3600" spc="-6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Corbel"/>
                <a:cs typeface="Corbel"/>
              </a:rPr>
              <a:t>MIMD:</a:t>
            </a:r>
            <a:endParaRPr sz="3600">
              <a:latin typeface="Corbel"/>
              <a:cs typeface="Corbe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36600" y="2660776"/>
            <a:ext cx="5154295" cy="338518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Easier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to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program</a:t>
            </a:r>
            <a:endParaRPr sz="3600">
              <a:latin typeface="Corbel"/>
              <a:cs typeface="Corbel"/>
            </a:endParaRPr>
          </a:p>
          <a:p>
            <a:pPr marL="12700" marR="727710">
              <a:lnSpc>
                <a:spcPct val="122500"/>
              </a:lnSpc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Less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tolerant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36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failures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Harder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36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extend</a:t>
            </a:r>
            <a:endParaRPr sz="3600">
              <a:latin typeface="Corbel"/>
              <a:cs typeface="Corbel"/>
            </a:endParaRPr>
          </a:p>
          <a:p>
            <a:pPr marL="12700" marR="5080">
              <a:lnSpc>
                <a:spcPts val="5290"/>
              </a:lnSpc>
              <a:spcBef>
                <a:spcPts val="130"/>
              </a:spcBef>
            </a:pP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Failure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affect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entire</a:t>
            </a:r>
            <a:r>
              <a:rPr dirty="0" sz="36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system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Less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likely</a:t>
            </a:r>
            <a:r>
              <a:rPr dirty="0" sz="36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36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>
                <a:solidFill>
                  <a:srgbClr val="FFFFFF"/>
                </a:solidFill>
                <a:latin typeface="Corbel"/>
                <a:cs typeface="Corbel"/>
              </a:rPr>
              <a:t>be</a:t>
            </a:r>
            <a:r>
              <a:rPr dirty="0" sz="36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Corbel"/>
                <a:cs typeface="Corbel"/>
              </a:rPr>
              <a:t>scale</a:t>
            </a:r>
            <a:endParaRPr sz="3600">
              <a:latin typeface="Corbel"/>
              <a:cs typeface="Corbe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/>
              <a:t>Distributed</a:t>
            </a:r>
            <a:r>
              <a:rPr dirty="0" spc="-20"/>
              <a:t> </a:t>
            </a:r>
            <a:r>
              <a:rPr dirty="0"/>
              <a:t>memory</a:t>
            </a:r>
            <a:r>
              <a:rPr dirty="0" spc="-25"/>
              <a:t> </a:t>
            </a:r>
            <a:r>
              <a:rPr dirty="0" spc="-10"/>
              <a:t>MIMD:</a:t>
            </a:r>
          </a:p>
          <a:p>
            <a:pPr marL="12700" marR="1362075">
              <a:lnSpc>
                <a:spcPts val="5290"/>
              </a:lnSpc>
              <a:spcBef>
                <a:spcPts val="330"/>
              </a:spcBef>
            </a:pPr>
            <a:r>
              <a:rPr dirty="0" b="0">
                <a:latin typeface="Corbel"/>
                <a:cs typeface="Corbel"/>
              </a:rPr>
              <a:t>Complex</a:t>
            </a:r>
            <a:r>
              <a:rPr dirty="0" spc="-90" b="0">
                <a:latin typeface="Corbel"/>
                <a:cs typeface="Corbel"/>
              </a:rPr>
              <a:t> </a:t>
            </a:r>
            <a:r>
              <a:rPr dirty="0" spc="-10" b="0">
                <a:latin typeface="Corbel"/>
                <a:cs typeface="Corbel"/>
              </a:rPr>
              <a:t>architecture </a:t>
            </a:r>
            <a:r>
              <a:rPr dirty="0" b="0">
                <a:latin typeface="Corbel"/>
                <a:cs typeface="Corbel"/>
              </a:rPr>
              <a:t>Easy</a:t>
            </a:r>
            <a:r>
              <a:rPr dirty="0" spc="-30" b="0">
                <a:latin typeface="Corbel"/>
                <a:cs typeface="Corbel"/>
              </a:rPr>
              <a:t> </a:t>
            </a:r>
            <a:r>
              <a:rPr dirty="0" b="0">
                <a:latin typeface="Corbel"/>
                <a:cs typeface="Corbel"/>
              </a:rPr>
              <a:t>to</a:t>
            </a:r>
            <a:r>
              <a:rPr dirty="0" spc="-25" b="0">
                <a:latin typeface="Corbel"/>
                <a:cs typeface="Corbel"/>
              </a:rPr>
              <a:t> </a:t>
            </a:r>
            <a:r>
              <a:rPr dirty="0" spc="-10" b="0">
                <a:latin typeface="Corbel"/>
                <a:cs typeface="Corbel"/>
              </a:rPr>
              <a:t>extend</a:t>
            </a:r>
          </a:p>
          <a:p>
            <a:pPr marL="12700" marR="241935">
              <a:lnSpc>
                <a:spcPts val="3890"/>
              </a:lnSpc>
              <a:spcBef>
                <a:spcPts val="1125"/>
              </a:spcBef>
            </a:pPr>
            <a:r>
              <a:rPr dirty="0" b="0">
                <a:latin typeface="Corbel"/>
                <a:cs typeface="Corbel"/>
              </a:rPr>
              <a:t>Failure</a:t>
            </a:r>
            <a:r>
              <a:rPr dirty="0" spc="-35" b="0">
                <a:latin typeface="Corbel"/>
                <a:cs typeface="Corbel"/>
              </a:rPr>
              <a:t> </a:t>
            </a:r>
            <a:r>
              <a:rPr dirty="0" b="0">
                <a:latin typeface="Corbel"/>
                <a:cs typeface="Corbel"/>
              </a:rPr>
              <a:t>doesn’t</a:t>
            </a:r>
            <a:r>
              <a:rPr dirty="0" spc="-40" b="0">
                <a:latin typeface="Corbel"/>
                <a:cs typeface="Corbel"/>
              </a:rPr>
              <a:t> </a:t>
            </a:r>
            <a:r>
              <a:rPr dirty="0" b="0">
                <a:latin typeface="Corbel"/>
                <a:cs typeface="Corbel"/>
              </a:rPr>
              <a:t>effect</a:t>
            </a:r>
            <a:r>
              <a:rPr dirty="0" spc="-20" b="0">
                <a:latin typeface="Corbel"/>
                <a:cs typeface="Corbel"/>
              </a:rPr>
              <a:t> </a:t>
            </a:r>
            <a:r>
              <a:rPr dirty="0" spc="-10" b="0">
                <a:latin typeface="Corbel"/>
                <a:cs typeface="Corbel"/>
              </a:rPr>
              <a:t>entire system</a:t>
            </a: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b="0">
                <a:latin typeface="Corbel"/>
                <a:cs typeface="Corbel"/>
              </a:rPr>
              <a:t>Easily </a:t>
            </a:r>
            <a:r>
              <a:rPr dirty="0" spc="-10" b="0">
                <a:latin typeface="Corbel"/>
                <a:cs typeface="Corbel"/>
              </a:rPr>
              <a:t>saleable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Mohammad Rizwan</dc:creator>
  <dc:title>PowerPoint Presentation</dc:title>
  <dcterms:created xsi:type="dcterms:W3CDTF">2025-06-21T21:32:26Z</dcterms:created>
  <dcterms:modified xsi:type="dcterms:W3CDTF">2025-06-21T21:32:26Z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2025-06-21T00:00:00Z</vt:filetime>
  </property>
  <property fmtid="{D5CDD505-2E9C-101B-9397-08002B2CF9AE}" pid="5" name="Producer">
    <vt:lpwstr>Microsoft® PowerPoint® 2013</vt:lpwstr>
  </property>
</Properties>
</file>