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13"/>
  </p:notesMasterIdLst>
  <p:handoutMasterIdLst>
    <p:handoutMasterId r:id="rId14"/>
  </p:handoutMasterIdLst>
  <p:sldIdLst>
    <p:sldId id="667" r:id="rId2"/>
    <p:sldId id="586" r:id="rId3"/>
    <p:sldId id="727" r:id="rId4"/>
    <p:sldId id="728" r:id="rId5"/>
    <p:sldId id="729" r:id="rId6"/>
    <p:sldId id="730" r:id="rId7"/>
    <p:sldId id="593" r:id="rId8"/>
    <p:sldId id="732" r:id="rId9"/>
    <p:sldId id="594" r:id="rId10"/>
    <p:sldId id="733" r:id="rId11"/>
    <p:sldId id="734" r:id="rId12"/>
  </p:sldIdLst>
  <p:sldSz cx="9144000" cy="6858000" type="letter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accent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accent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accent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accent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accent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000" b="1" kern="1200">
        <a:solidFill>
          <a:schemeClr val="accent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000" b="1" kern="1200">
        <a:solidFill>
          <a:schemeClr val="accent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000" b="1" kern="1200">
        <a:solidFill>
          <a:schemeClr val="accent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000" b="1" kern="1200">
        <a:solidFill>
          <a:schemeClr val="accent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02">
          <p15:clr>
            <a:srgbClr val="A4A3A4"/>
          </p15:clr>
        </p15:guide>
        <p15:guide id="2" pos="29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FFFFCC"/>
    <a:srgbClr val="EBD7C3"/>
    <a:srgbClr val="CCECFF"/>
    <a:srgbClr val="DAB590"/>
    <a:srgbClr val="D4A97E"/>
    <a:srgbClr val="99FFCC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037" autoAdjust="0"/>
    <p:restoredTop sz="92572" autoAdjust="0"/>
  </p:normalViewPr>
  <p:slideViewPr>
    <p:cSldViewPr snapToGrid="0">
      <p:cViewPr>
        <p:scale>
          <a:sx n="81" d="100"/>
          <a:sy n="81" d="100"/>
        </p:scale>
        <p:origin x="-1554" y="-36"/>
      </p:cViewPr>
      <p:guideLst>
        <p:guide orient="horz" pos="1902"/>
        <p:guide pos="29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314"/>
    </p:cViewPr>
  </p:sorterViewPr>
  <p:notesViewPr>
    <p:cSldViewPr snapToGrid="0">
      <p:cViewPr varScale="1">
        <p:scale>
          <a:sx n="51" d="100"/>
          <a:sy n="51" d="100"/>
        </p:scale>
        <p:origin x="-246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00" tIns="0" rIns="19800" bIns="0" numCol="1" anchor="t" anchorCtr="0" compatLnSpc="1">
            <a:prstTxWarp prst="textNoShape">
              <a:avLst/>
            </a:prstTxWarp>
          </a:bodyPr>
          <a:lstStyle>
            <a:lvl1pPr algn="l" defTabSz="987425">
              <a:defRPr sz="9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-1588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00" tIns="0" rIns="19800" bIns="0" numCol="1" anchor="t" anchorCtr="0" compatLnSpc="1">
            <a:prstTxWarp prst="textNoShape">
              <a:avLst/>
            </a:prstTxWarp>
          </a:bodyPr>
          <a:lstStyle>
            <a:lvl1pPr algn="r" defTabSz="987425">
              <a:defRPr sz="9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00" tIns="0" rIns="19800" bIns="0" numCol="1" anchor="b" anchorCtr="0" compatLnSpc="1">
            <a:prstTxWarp prst="textNoShape">
              <a:avLst/>
            </a:prstTxWarp>
          </a:bodyPr>
          <a:lstStyle>
            <a:lvl1pPr algn="l" defTabSz="987425">
              <a:defRPr sz="900" b="0" i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CS267 Lecture 2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00" tIns="0" rIns="19800" bIns="0" numCol="1" anchor="b" anchorCtr="0" compatLnSpc="1">
            <a:prstTxWarp prst="textNoShape">
              <a:avLst/>
            </a:prstTxWarp>
          </a:bodyPr>
          <a:lstStyle>
            <a:lvl1pPr algn="r" defTabSz="987425">
              <a:defRPr sz="900" b="0" i="1"/>
            </a:lvl1pPr>
          </a:lstStyle>
          <a:p>
            <a:fld id="{168A369F-9D7C-4CF7-856C-7418799682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05397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00" tIns="0" rIns="19800" bIns="0" numCol="1" anchor="t" anchorCtr="0" compatLnSpc="1">
            <a:prstTxWarp prst="textNoShape">
              <a:avLst/>
            </a:prstTxWarp>
          </a:bodyPr>
          <a:lstStyle>
            <a:lvl1pPr algn="l" defTabSz="987425">
              <a:defRPr sz="900" b="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-1588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00" tIns="0" rIns="19800" bIns="0" numCol="1" anchor="t" anchorCtr="0" compatLnSpc="1">
            <a:prstTxWarp prst="textNoShape">
              <a:avLst/>
            </a:prstTxWarp>
          </a:bodyPr>
          <a:lstStyle>
            <a:lvl1pPr algn="r" defTabSz="987425">
              <a:defRPr sz="900" b="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00" tIns="0" rIns="19800" bIns="0" numCol="1" anchor="b" anchorCtr="0" compatLnSpc="1">
            <a:prstTxWarp prst="textNoShape">
              <a:avLst/>
            </a:prstTxWarp>
          </a:bodyPr>
          <a:lstStyle>
            <a:lvl1pPr algn="l" defTabSz="987425">
              <a:defRPr sz="900" b="0" i="1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CS267 Lecture 2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00" tIns="0" rIns="19800" bIns="0" numCol="1" anchor="b" anchorCtr="0" compatLnSpc="1">
            <a:prstTxWarp prst="textNoShape">
              <a:avLst/>
            </a:prstTxWarp>
          </a:bodyPr>
          <a:lstStyle>
            <a:lvl1pPr algn="r" defTabSz="987425">
              <a:defRPr sz="900" b="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44606C35-98DE-42CE-A51D-CBEDC0398AE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9942" name="Rectangle 6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70000" y="615950"/>
            <a:ext cx="4786313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5" name="Rectangle 7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50863" y="4560888"/>
            <a:ext cx="6303962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46" tIns="49498" rIns="97346" bIns="494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We want this to be in font 11 and justify.</a:t>
            </a:r>
          </a:p>
        </p:txBody>
      </p:sp>
    </p:spTree>
    <p:extLst>
      <p:ext uri="{BB962C8B-B14F-4D97-AF65-F5344CB8AC3E}">
        <p14:creationId xmlns:p14="http://schemas.microsoft.com/office/powerpoint/2010/main" val="355714169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just" defTabSz="949325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MS PGothic" pitchFamily="34" charset="-128"/>
        <a:cs typeface="ＭＳ Ｐゴシック" charset="-128"/>
      </a:defRPr>
    </a:lvl1pPr>
    <a:lvl2pPr marL="742950" indent="-285750" algn="l" defTabSz="9493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MS PGothic" pitchFamily="34" charset="-128"/>
        <a:cs typeface="+mn-cs"/>
      </a:defRPr>
    </a:lvl2pPr>
    <a:lvl3pPr marL="1143000" indent="-228600" algn="l" defTabSz="9493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MS PGothic" pitchFamily="34" charset="-128"/>
        <a:cs typeface="+mn-cs"/>
      </a:defRPr>
    </a:lvl3pPr>
    <a:lvl4pPr marL="1600200" indent="-228600" algn="l" defTabSz="9493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MS PGothic" pitchFamily="34" charset="-128"/>
        <a:cs typeface="+mn-cs"/>
      </a:defRPr>
    </a:lvl4pPr>
    <a:lvl5pPr marL="2057400" indent="-228600" algn="l" defTabSz="9493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CS267 Lecture 2</a:t>
            </a:r>
          </a:p>
        </p:txBody>
      </p:sp>
      <p:sp>
        <p:nvSpPr>
          <p:cNvPr id="4096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CC5D9F-5A27-4A78-90A0-1594198B6254}" type="slidenum">
              <a:rPr lang="en-US" altLang="en-US" sz="9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en-US" sz="9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CS267 Lecture 2</a:t>
            </a:r>
          </a:p>
        </p:txBody>
      </p:sp>
      <p:sp>
        <p:nvSpPr>
          <p:cNvPr id="41987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E909F6-8EC8-4AD9-AD50-3C16700F11F3}" type="slidenum">
              <a:rPr lang="en-US" altLang="en-US" sz="9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</a:t>
            </a:fld>
            <a:endParaRPr lang="en-US" altLang="en-US" sz="9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CS267 Lecture 2</a:t>
            </a:r>
          </a:p>
        </p:txBody>
      </p:sp>
      <p:sp>
        <p:nvSpPr>
          <p:cNvPr id="4301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0410B44-D763-470A-8146-D55843027412}" type="slidenum">
              <a:rPr lang="en-US" altLang="en-US" sz="9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en-US" sz="9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CS267 Lecture 2</a:t>
            </a:r>
          </a:p>
        </p:txBody>
      </p:sp>
      <p:sp>
        <p:nvSpPr>
          <p:cNvPr id="4301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0410B44-D763-470A-8146-D55843027412}" type="slidenum">
              <a:rPr lang="en-US" altLang="en-US" sz="9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</a:t>
            </a:fld>
            <a:endParaRPr lang="en-US" altLang="en-US" sz="9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611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CS267 Lecture 2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87425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defTabSz="9874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55B721-5369-43E0-A83D-C421040CC879}" type="slidenum">
              <a:rPr lang="en-US" altLang="en-US" sz="9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9</a:t>
            </a:fld>
            <a:endParaRPr lang="en-US" altLang="en-US" sz="9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609600" y="685800"/>
            <a:ext cx="8001000" cy="0"/>
          </a:xfrm>
          <a:prstGeom prst="line">
            <a:avLst/>
          </a:prstGeom>
          <a:noFill/>
          <a:ln w="47625" cmpd="thickThin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34" charset="-128"/>
            </a:endParaRPr>
          </a:p>
        </p:txBody>
      </p:sp>
      <p:sp>
        <p:nvSpPr>
          <p:cNvPr id="9421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2209800" y="1981200"/>
            <a:ext cx="4953000" cy="1111250"/>
          </a:xfrm>
        </p:spPr>
        <p:txBody>
          <a:bodyPr/>
          <a:lstStyle>
            <a:lvl1pPr algn="ctr">
              <a:defRPr sz="4000">
                <a:latin typeface="Helvetica" pitchFamily="1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421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3657600"/>
            <a:ext cx="6400800" cy="477838"/>
          </a:xfrm>
        </p:spPr>
        <p:txBody>
          <a:bodyPr/>
          <a:lstStyle>
            <a:lvl1pPr marL="0" indent="0" algn="ctr">
              <a:buFontTx/>
              <a:buNone/>
              <a:defRPr sz="2800">
                <a:latin typeface="Helvetica" pitchFamily="1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C52668-4322-4A50-9800-A15D5EF00F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75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95D5B8-26F2-4F1D-A221-C4DFB33BEB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66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083719-2C0F-4C62-BE42-B61E8AF85C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859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F07BBDB-50B8-4000-A921-9428FE4278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14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3924300" cy="1812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3924300" cy="1812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C69EA7-A61E-4915-9D77-96CE34B541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794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C71AFF-3A13-4BD4-9593-61A7FF0C62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41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7FDE60-C128-4D61-80B1-7F1A5E2601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7998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384574-37C1-4695-8B24-C6BDAFAFC5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659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DEE350-09C2-43EE-A4A5-E3ADAF3ADD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889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5EF6C6-EC53-4DA1-959F-F1921A305C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23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306388"/>
            <a:ext cx="7812087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914400"/>
            <a:ext cx="3924300" cy="18129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3924300" cy="18129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D48A4B-BBA0-4BEC-ABD9-EE074EF6CE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878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tx1"/>
                </a:solidFill>
                <a:latin typeface="Helvetica" panose="020B0604020202030204" pitchFamily="34" charset="0"/>
              </a:defRPr>
            </a:lvl1pPr>
          </a:lstStyle>
          <a:p>
            <a:fld id="{CC2A1C17-5F99-4035-9CA2-2D974CB94D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98513" y="306388"/>
            <a:ext cx="781208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8001000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609600" y="685800"/>
            <a:ext cx="8001000" cy="0"/>
          </a:xfrm>
          <a:prstGeom prst="line">
            <a:avLst/>
          </a:prstGeom>
          <a:noFill/>
          <a:ln w="47625" cmpd="thickThin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04" r:id="rId2"/>
    <p:sldLayoutId id="2147483805" r:id="rId3"/>
    <p:sldLayoutId id="2147483814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hf hdr="0" dt="0"/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+mj-lt"/>
          <a:ea typeface="MS PGothic" pitchFamily="34" charset="-128"/>
          <a:cs typeface="ＭＳ Ｐゴシック" charset="-128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Arial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Arial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Arial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000099"/>
          </a:solidFill>
          <a:latin typeface="Arial" charset="0"/>
        </a:defRPr>
      </a:lvl9pPr>
    </p:titleStyle>
    <p:bodyStyle>
      <a:lvl1pPr marL="203200" indent="-203200" algn="l" rtl="0" eaLnBrk="0" fontAlgn="base" hangingPunct="0">
        <a:spcBef>
          <a:spcPct val="15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685800" indent="-190500" algn="l" rtl="0" eaLnBrk="0" fontAlgn="base" hangingPunct="0">
        <a:spcBef>
          <a:spcPct val="15000"/>
        </a:spcBef>
        <a:spcAft>
          <a:spcPct val="0"/>
        </a:spcAft>
        <a:buSzPct val="100000"/>
        <a:buChar char="•"/>
        <a:defRPr sz="2000">
          <a:solidFill>
            <a:srgbClr val="000099"/>
          </a:solidFill>
          <a:latin typeface="+mn-lt"/>
          <a:ea typeface="MS PGothic" pitchFamily="34" charset="-128"/>
        </a:defRPr>
      </a:lvl2pPr>
      <a:lvl3pPr marL="1257300" indent="-342900" algn="l" rtl="0" eaLnBrk="0" fontAlgn="base" hangingPunct="0">
        <a:spcBef>
          <a:spcPct val="15000"/>
        </a:spcBef>
        <a:spcAft>
          <a:spcPct val="0"/>
        </a:spcAft>
        <a:buSzPct val="100000"/>
        <a:buChar char="•"/>
        <a:defRPr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" charset="0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" charset="0"/>
          <a:ea typeface="MS PGothic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mp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2299493" y="4497704"/>
            <a:ext cx="3973513" cy="128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b="0" i="1" dirty="0" smtClean="0"/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025C93-D110-43AE-AC47-2476F9DD35B2}" type="slidenum">
              <a:rPr lang="en-US" altLang="en-US" sz="1400" b="0">
                <a:solidFill>
                  <a:schemeClr val="tx1"/>
                </a:solidFill>
                <a:latin typeface="Helvetica" panose="020B0604020202030204" pitchFamily="34" charset="0"/>
              </a:rPr>
              <a:pPr/>
              <a:t>1</a:t>
            </a:fld>
            <a:endParaRPr lang="en-US" altLang="en-US" sz="1400" b="0">
              <a:solidFill>
                <a:schemeClr val="tx1"/>
              </a:solidFill>
              <a:latin typeface="Helvetica" panose="020B0604020202030204" pitchFamily="34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09750" y="1581150"/>
            <a:ext cx="4953000" cy="18979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 smtClean="0">
                <a:latin typeface="Helvetica" panose="020B0604020202030204" pitchFamily="34" charset="0"/>
              </a:rPr>
              <a:t>Parallel Programming with </a:t>
            </a:r>
            <a:r>
              <a:rPr lang="en-US" altLang="en-US" dirty="0" err="1" smtClean="0">
                <a:latin typeface="Helvetica" panose="020B0604020202030204" pitchFamily="34" charset="0"/>
              </a:rPr>
              <a:t>OpenMP</a:t>
            </a:r>
            <a:r>
              <a:rPr lang="en-US" altLang="en-US" dirty="0" smtClean="0">
                <a:latin typeface="Helvetica" panose="020B0604020202030204" pitchFamily="34" charset="0"/>
              </a:rPr>
              <a:t> – Part #1</a:t>
            </a:r>
          </a:p>
        </p:txBody>
      </p:sp>
      <p:pic>
        <p:nvPicPr>
          <p:cNvPr id="3074" name="Picture 2" descr="OpenMP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6248400"/>
            <a:ext cx="17145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1F3C6E6-8336-4803-9A0D-7743A77E8C0C}" type="slidenum">
              <a:rPr lang="en-US" altLang="en-US" sz="1400" b="0">
                <a:solidFill>
                  <a:schemeClr val="tx1"/>
                </a:solidFill>
                <a:latin typeface="Helvetica" panose="020B0604020202030204" pitchFamily="34" charset="0"/>
              </a:rPr>
              <a:pPr/>
              <a:t>2</a:t>
            </a:fld>
            <a:endParaRPr lang="en-US" altLang="en-US" sz="1400" b="0">
              <a:solidFill>
                <a:schemeClr val="tx1"/>
              </a:solidFill>
              <a:latin typeface="Helvetica" panose="020B0604020202030204" pitchFamily="34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Programmer</a:t>
            </a:r>
            <a:r>
              <a:rPr lang="ja-JP" altLang="en-US" smtClean="0"/>
              <a:t>’</a:t>
            </a:r>
            <a:r>
              <a:rPr lang="en-US" altLang="ja-JP" smtClean="0"/>
              <a:t>s View of OpenMP</a:t>
            </a:r>
            <a:endParaRPr lang="en-US" altLang="en-US" smtClean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264" y="728663"/>
            <a:ext cx="8717598" cy="6040628"/>
          </a:xfrm>
        </p:spPr>
        <p:txBody>
          <a:bodyPr/>
          <a:lstStyle/>
          <a:p>
            <a:r>
              <a:rPr lang="en-US" altLang="en-US" sz="2000" dirty="0" smtClean="0">
                <a:latin typeface="Times" panose="02020603060405020304" pitchFamily="18" charset="0"/>
              </a:rPr>
              <a:t>What is </a:t>
            </a:r>
            <a:r>
              <a:rPr lang="en-US" altLang="en-US" sz="2000" dirty="0" err="1" smtClean="0">
                <a:latin typeface="Times" panose="02020603060405020304" pitchFamily="18" charset="0"/>
              </a:rPr>
              <a:t>OpenMP</a:t>
            </a:r>
            <a:r>
              <a:rPr lang="en-US" altLang="en-US" sz="2000" dirty="0" smtClean="0">
                <a:latin typeface="Times" panose="02020603060405020304" pitchFamily="18" charset="0"/>
              </a:rPr>
              <a:t>?</a:t>
            </a:r>
          </a:p>
          <a:p>
            <a:pPr lvl="1"/>
            <a:r>
              <a:rPr lang="en-US" altLang="en-US" sz="1800" dirty="0" smtClean="0">
                <a:latin typeface="Times" panose="02020603060405020304" pitchFamily="18" charset="0"/>
              </a:rPr>
              <a:t>Open specification for Multi-Processing</a:t>
            </a:r>
          </a:p>
          <a:p>
            <a:pPr lvl="1"/>
            <a:r>
              <a:rPr lang="ja-JP" altLang="en-US" sz="1800" dirty="0" smtClean="0">
                <a:latin typeface="Times" panose="02020603060405020304" pitchFamily="18" charset="0"/>
              </a:rPr>
              <a:t>“</a:t>
            </a:r>
            <a:r>
              <a:rPr lang="en-US" altLang="ja-JP" sz="1800" dirty="0" smtClean="0">
                <a:latin typeface="Times" panose="02020603060405020304" pitchFamily="18" charset="0"/>
              </a:rPr>
              <a:t>Standard</a:t>
            </a:r>
            <a:r>
              <a:rPr lang="ja-JP" altLang="en-US" sz="1800" dirty="0" smtClean="0">
                <a:latin typeface="Times" panose="02020603060405020304" pitchFamily="18" charset="0"/>
              </a:rPr>
              <a:t>”</a:t>
            </a:r>
            <a:r>
              <a:rPr lang="en-US" altLang="ja-JP" sz="1800" dirty="0" smtClean="0">
                <a:latin typeface="Times" panose="02020603060405020304" pitchFamily="18" charset="0"/>
              </a:rPr>
              <a:t> API for defining multi-threaded shared-memory programs</a:t>
            </a:r>
          </a:p>
          <a:p>
            <a:pPr lvl="1"/>
            <a:r>
              <a:rPr lang="en-US" altLang="en-US" sz="1800" dirty="0" smtClean="0">
                <a:latin typeface="Times" panose="02020603060405020304" pitchFamily="18" charset="0"/>
                <a:hlinkClick r:id="rId3"/>
              </a:rPr>
              <a:t>openmp.org</a:t>
            </a:r>
            <a:r>
              <a:rPr lang="en-US" altLang="en-US" sz="1800" dirty="0" smtClean="0">
                <a:latin typeface="Times" panose="02020603060405020304" pitchFamily="18" charset="0"/>
              </a:rPr>
              <a:t> – Talks, examples, forums, etc.</a:t>
            </a:r>
          </a:p>
          <a:p>
            <a:endParaRPr lang="en-US" altLang="en-US" sz="1000" dirty="0" smtClean="0">
              <a:latin typeface="Times" panose="02020603060405020304" pitchFamily="18" charset="0"/>
            </a:endParaRPr>
          </a:p>
          <a:p>
            <a:r>
              <a:rPr lang="en-US" altLang="en-US" sz="2000" dirty="0" err="1" smtClean="0">
                <a:latin typeface="Times" panose="02020603060405020304" pitchFamily="18" charset="0"/>
              </a:rPr>
              <a:t>OpenMP</a:t>
            </a:r>
            <a:r>
              <a:rPr lang="en-US" altLang="en-US" sz="2000" dirty="0" smtClean="0">
                <a:latin typeface="Times" panose="02020603060405020304" pitchFamily="18" charset="0"/>
              </a:rPr>
              <a:t> is a </a:t>
            </a:r>
            <a:r>
              <a:rPr lang="en-US" altLang="en-US" sz="2000" u="sng" dirty="0" smtClean="0">
                <a:solidFill>
                  <a:srgbClr val="FF0000"/>
                </a:solidFill>
                <a:latin typeface="Times" panose="02020603060405020304" pitchFamily="18" charset="0"/>
              </a:rPr>
              <a:t>portable</a:t>
            </a:r>
            <a:r>
              <a:rPr lang="en-US" altLang="en-US" sz="2000" dirty="0" smtClean="0">
                <a:latin typeface="Times" panose="02020603060405020304" pitchFamily="18" charset="0"/>
              </a:rPr>
              <a:t>, </a:t>
            </a:r>
            <a:r>
              <a:rPr lang="en-US" altLang="en-US" sz="2000" u="sng" dirty="0" smtClean="0">
                <a:solidFill>
                  <a:srgbClr val="FF0000"/>
                </a:solidFill>
                <a:latin typeface="Times" panose="02020603060405020304" pitchFamily="18" charset="0"/>
              </a:rPr>
              <a:t>threaded</a:t>
            </a:r>
            <a:r>
              <a:rPr lang="en-US" altLang="en-US" sz="2000" dirty="0" smtClean="0">
                <a:latin typeface="Times" panose="02020603060405020304" pitchFamily="18" charset="0"/>
              </a:rPr>
              <a:t>, </a:t>
            </a:r>
            <a:r>
              <a:rPr lang="en-US" altLang="en-US" sz="2000" dirty="0" smtClean="0">
                <a:solidFill>
                  <a:srgbClr val="FF0000"/>
                </a:solidFill>
                <a:latin typeface="Times" panose="02020603060405020304" pitchFamily="18" charset="0"/>
              </a:rPr>
              <a:t>shared-memory</a:t>
            </a:r>
            <a:r>
              <a:rPr lang="en-US" altLang="en-US" sz="2000" dirty="0" smtClean="0">
                <a:latin typeface="Times" panose="02020603060405020304" pitchFamily="18" charset="0"/>
              </a:rPr>
              <a:t> programming </a:t>
            </a:r>
            <a:r>
              <a:rPr lang="en-US" altLang="en-US" sz="2000" i="1" u="sng" dirty="0" smtClean="0">
                <a:latin typeface="Times" panose="02020603060405020304" pitchFamily="18" charset="0"/>
              </a:rPr>
              <a:t>specification</a:t>
            </a:r>
            <a:r>
              <a:rPr lang="en-US" altLang="en-US" sz="2000" dirty="0" smtClean="0">
                <a:latin typeface="Times" panose="02020603060405020304" pitchFamily="18" charset="0"/>
              </a:rPr>
              <a:t> with </a:t>
            </a:r>
            <a:r>
              <a:rPr lang="ja-JP" altLang="en-US" sz="2000" dirty="0" smtClean="0">
                <a:latin typeface="Times" panose="02020603060405020304" pitchFamily="18" charset="0"/>
              </a:rPr>
              <a:t>“</a:t>
            </a:r>
            <a:r>
              <a:rPr lang="en-US" altLang="ja-JP" sz="2000" dirty="0" smtClean="0">
                <a:latin typeface="Times" panose="02020603060405020304" pitchFamily="18" charset="0"/>
              </a:rPr>
              <a:t>light</a:t>
            </a:r>
            <a:r>
              <a:rPr lang="ja-JP" altLang="en-US" sz="2000" dirty="0" smtClean="0">
                <a:latin typeface="Times" panose="02020603060405020304" pitchFamily="18" charset="0"/>
              </a:rPr>
              <a:t>”</a:t>
            </a:r>
            <a:r>
              <a:rPr lang="en-US" altLang="ja-JP" sz="2000" dirty="0" smtClean="0">
                <a:latin typeface="Times" panose="02020603060405020304" pitchFamily="18" charset="0"/>
              </a:rPr>
              <a:t> syntax</a:t>
            </a:r>
          </a:p>
          <a:p>
            <a:pPr lvl="1"/>
            <a:r>
              <a:rPr lang="en-US" altLang="en-US" sz="1800" dirty="0" smtClean="0">
                <a:latin typeface="Times" panose="02020603060405020304" pitchFamily="18" charset="0"/>
              </a:rPr>
              <a:t>Exact behavior depends on </a:t>
            </a:r>
            <a:r>
              <a:rPr lang="en-US" altLang="en-US" sz="1800" dirty="0" err="1" smtClean="0">
                <a:latin typeface="Times" panose="02020603060405020304" pitchFamily="18" charset="0"/>
              </a:rPr>
              <a:t>OpenMP</a:t>
            </a:r>
            <a:r>
              <a:rPr lang="en-US" altLang="en-US" sz="1800" dirty="0" smtClean="0">
                <a:latin typeface="Times" panose="02020603060405020304" pitchFamily="18" charset="0"/>
              </a:rPr>
              <a:t> </a:t>
            </a:r>
            <a:r>
              <a:rPr lang="en-US" altLang="en-US" sz="1800" i="1" dirty="0" smtClean="0">
                <a:latin typeface="Times" panose="02020603060405020304" pitchFamily="18" charset="0"/>
              </a:rPr>
              <a:t>implementation</a:t>
            </a:r>
            <a:r>
              <a:rPr lang="en-US" altLang="en-US" sz="1800" dirty="0" smtClean="0">
                <a:latin typeface="Times" panose="02020603060405020304" pitchFamily="18" charset="0"/>
              </a:rPr>
              <a:t>!</a:t>
            </a:r>
          </a:p>
          <a:p>
            <a:pPr lvl="1"/>
            <a:r>
              <a:rPr lang="en-US" altLang="en-US" sz="1800" dirty="0" smtClean="0">
                <a:latin typeface="Times" panose="02020603060405020304" pitchFamily="18" charset="0"/>
              </a:rPr>
              <a:t>Requires compiler support (</a:t>
            </a:r>
            <a:r>
              <a:rPr lang="en-US" altLang="en-US" sz="1800" u="sng" dirty="0" smtClean="0">
                <a:latin typeface="Times" panose="02020603060405020304" pitchFamily="18" charset="0"/>
              </a:rPr>
              <a:t>C/C++</a:t>
            </a:r>
            <a:r>
              <a:rPr lang="en-US" altLang="en-US" sz="1800" dirty="0" smtClean="0">
                <a:latin typeface="Times" panose="02020603060405020304" pitchFamily="18" charset="0"/>
              </a:rPr>
              <a:t> or Fortran)</a:t>
            </a:r>
          </a:p>
          <a:p>
            <a:endParaRPr lang="en-US" altLang="en-US" sz="800" dirty="0" smtClean="0">
              <a:latin typeface="Times" panose="02020603060405020304" pitchFamily="18" charset="0"/>
            </a:endParaRPr>
          </a:p>
          <a:p>
            <a:r>
              <a:rPr lang="en-US" altLang="en-US" sz="2000" dirty="0" err="1" smtClean="0">
                <a:latin typeface="Times" panose="02020603060405020304" pitchFamily="18" charset="0"/>
              </a:rPr>
              <a:t>OpenMP</a:t>
            </a:r>
            <a:r>
              <a:rPr lang="en-US" altLang="en-US" sz="2000" dirty="0" smtClean="0">
                <a:latin typeface="Times" panose="02020603060405020304" pitchFamily="18" charset="0"/>
              </a:rPr>
              <a:t> </a:t>
            </a:r>
            <a:r>
              <a:rPr lang="en-US" altLang="en-US" sz="2000" b="1" dirty="0" smtClean="0">
                <a:solidFill>
                  <a:srgbClr val="006600"/>
                </a:solidFill>
                <a:latin typeface="Times" panose="02020603060405020304" pitchFamily="18" charset="0"/>
              </a:rPr>
              <a:t>will</a:t>
            </a:r>
            <a:r>
              <a:rPr lang="en-US" altLang="en-US" sz="2000" dirty="0" smtClean="0">
                <a:latin typeface="Times" panose="02020603060405020304" pitchFamily="18" charset="0"/>
              </a:rPr>
              <a:t>:</a:t>
            </a:r>
          </a:p>
          <a:p>
            <a:pPr lvl="1"/>
            <a:r>
              <a:rPr lang="en-US" altLang="en-US" sz="1800" dirty="0" smtClean="0">
                <a:latin typeface="Times" panose="02020603060405020304" pitchFamily="18" charset="0"/>
              </a:rPr>
              <a:t>Allow a programmer to separate a program into </a:t>
            </a:r>
            <a:r>
              <a:rPr lang="en-US" altLang="en-US" sz="1800" i="1" dirty="0" smtClean="0">
                <a:solidFill>
                  <a:srgbClr val="FF0000"/>
                </a:solidFill>
                <a:latin typeface="Times" panose="02020603060405020304" pitchFamily="18" charset="0"/>
              </a:rPr>
              <a:t>serial regions</a:t>
            </a:r>
            <a:r>
              <a:rPr lang="en-US" altLang="en-US" sz="1800" dirty="0" smtClean="0">
                <a:solidFill>
                  <a:srgbClr val="FF0000"/>
                </a:solidFill>
                <a:latin typeface="Times" panose="02020603060405020304" pitchFamily="18" charset="0"/>
              </a:rPr>
              <a:t> </a:t>
            </a:r>
            <a:r>
              <a:rPr lang="en-US" altLang="en-US" sz="1800" dirty="0" smtClean="0">
                <a:latin typeface="Times" panose="02020603060405020304" pitchFamily="18" charset="0"/>
              </a:rPr>
              <a:t>and </a:t>
            </a:r>
            <a:r>
              <a:rPr lang="en-US" altLang="en-US" sz="1800" i="1" dirty="0" smtClean="0">
                <a:solidFill>
                  <a:srgbClr val="FF0000"/>
                </a:solidFill>
                <a:latin typeface="Times" panose="02020603060405020304" pitchFamily="18" charset="0"/>
              </a:rPr>
              <a:t>parallel regions</a:t>
            </a:r>
            <a:r>
              <a:rPr lang="en-US" altLang="en-US" sz="1800" i="1" dirty="0" smtClean="0">
                <a:latin typeface="Times" panose="02020603060405020304" pitchFamily="18" charset="0"/>
              </a:rPr>
              <a:t>, </a:t>
            </a:r>
            <a:r>
              <a:rPr lang="en-US" altLang="en-US" sz="1800" dirty="0" smtClean="0">
                <a:latin typeface="Times" panose="02020603060405020304" pitchFamily="18" charset="0"/>
              </a:rPr>
              <a:t>rather than T concurrently-executing threads</a:t>
            </a:r>
            <a:r>
              <a:rPr lang="en-US" altLang="en-US" sz="1800" i="1" dirty="0" smtClean="0">
                <a:latin typeface="Times" panose="02020603060405020304" pitchFamily="18" charset="0"/>
              </a:rPr>
              <a:t>.</a:t>
            </a:r>
          </a:p>
          <a:p>
            <a:pPr lvl="1"/>
            <a:r>
              <a:rPr lang="en-US" altLang="en-US" sz="1800" dirty="0" smtClean="0">
                <a:latin typeface="Times" panose="02020603060405020304" pitchFamily="18" charset="0"/>
              </a:rPr>
              <a:t>Hide stack management</a:t>
            </a:r>
          </a:p>
          <a:p>
            <a:pPr lvl="1"/>
            <a:r>
              <a:rPr lang="en-US" altLang="en-US" sz="1800" dirty="0" smtClean="0">
                <a:latin typeface="Times" panose="02020603060405020304" pitchFamily="18" charset="0"/>
              </a:rPr>
              <a:t>Provide synchronization </a:t>
            </a:r>
            <a:r>
              <a:rPr lang="en-US" altLang="en-US" sz="1800" u="sng" dirty="0" smtClean="0">
                <a:latin typeface="Times" panose="02020603060405020304" pitchFamily="18" charset="0"/>
              </a:rPr>
              <a:t>constructs</a:t>
            </a:r>
            <a:r>
              <a:rPr lang="en-US" altLang="en-US" sz="1800" dirty="0" smtClean="0">
                <a:latin typeface="Times" panose="02020603060405020304" pitchFamily="18" charset="0"/>
              </a:rPr>
              <a:t> (syntax)</a:t>
            </a:r>
          </a:p>
          <a:p>
            <a:endParaRPr lang="en-US" altLang="en-US" sz="900" dirty="0" smtClean="0">
              <a:latin typeface="Times" panose="02020603060405020304" pitchFamily="18" charset="0"/>
            </a:endParaRPr>
          </a:p>
          <a:p>
            <a:r>
              <a:rPr lang="en-US" altLang="en-US" sz="2000" dirty="0" err="1" smtClean="0">
                <a:latin typeface="Times" panose="02020603060405020304" pitchFamily="18" charset="0"/>
              </a:rPr>
              <a:t>OpenMP</a:t>
            </a:r>
            <a:r>
              <a:rPr lang="en-US" altLang="en-US" sz="2000" dirty="0" smtClean="0">
                <a:latin typeface="Times" panose="02020603060405020304" pitchFamily="18" charset="0"/>
              </a:rPr>
              <a:t> </a:t>
            </a:r>
            <a:r>
              <a:rPr lang="en-US" altLang="en-US" sz="2000" b="1" dirty="0" smtClean="0">
                <a:solidFill>
                  <a:srgbClr val="FF0000"/>
                </a:solidFill>
                <a:latin typeface="Times" panose="02020603060405020304" pitchFamily="18" charset="0"/>
              </a:rPr>
              <a:t>will not</a:t>
            </a:r>
            <a:r>
              <a:rPr lang="en-US" altLang="en-US" sz="2000" dirty="0" smtClean="0">
                <a:latin typeface="Times" panose="02020603060405020304" pitchFamily="18" charset="0"/>
              </a:rPr>
              <a:t>:</a:t>
            </a:r>
          </a:p>
          <a:p>
            <a:pPr lvl="1"/>
            <a:r>
              <a:rPr lang="en-US" altLang="en-US" sz="1800" dirty="0" smtClean="0">
                <a:latin typeface="Times" panose="02020603060405020304" pitchFamily="18" charset="0"/>
              </a:rPr>
              <a:t>Parallelize automatically ?!!!</a:t>
            </a:r>
          </a:p>
          <a:p>
            <a:pPr lvl="1"/>
            <a:r>
              <a:rPr lang="en-US" altLang="en-US" sz="1800" dirty="0" smtClean="0">
                <a:latin typeface="Times" panose="02020603060405020304" pitchFamily="18" charset="0"/>
              </a:rPr>
              <a:t>Guarantee speedup ?!!!</a:t>
            </a:r>
          </a:p>
          <a:p>
            <a:pPr lvl="1"/>
            <a:r>
              <a:rPr lang="en-US" altLang="en-US" sz="1800" dirty="0" smtClean="0">
                <a:latin typeface="Times" panose="02020603060405020304" pitchFamily="18" charset="0"/>
              </a:rPr>
              <a:t>Provide freedom from data races ?!!!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OpenMP</a:t>
            </a:r>
            <a:r>
              <a:rPr lang="en-US" dirty="0"/>
              <a:t> Programming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022" y="821531"/>
            <a:ext cx="8001000" cy="159017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 err="1"/>
              <a:t>OpenMP</a:t>
            </a:r>
            <a:r>
              <a:rPr lang="en-US" dirty="0"/>
              <a:t> is designed for </a:t>
            </a:r>
            <a:r>
              <a:rPr lang="en-US" dirty="0" smtClean="0"/>
              <a:t>multi-processor/multi-core/multi-processing, </a:t>
            </a:r>
            <a:r>
              <a:rPr lang="en-US" dirty="0"/>
              <a:t>shared memory machines. </a:t>
            </a:r>
            <a:endParaRPr lang="en-US" dirty="0" smtClean="0"/>
          </a:p>
          <a:p>
            <a:pPr lvl="1">
              <a:spcBef>
                <a:spcPts val="600"/>
              </a:spcBef>
            </a:pPr>
            <a:r>
              <a:rPr lang="en-US" sz="1800" dirty="0" smtClean="0"/>
              <a:t>The </a:t>
            </a:r>
            <a:r>
              <a:rPr lang="en-US" sz="1800" dirty="0"/>
              <a:t>underlying architecture can be shared memory UMA or NUMA.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473393" y="2624177"/>
            <a:ext cx="3549967" cy="2864474"/>
            <a:chOff x="297815" y="2790811"/>
            <a:chExt cx="4050934" cy="3410967"/>
          </a:xfrm>
        </p:grpSpPr>
        <p:pic>
          <p:nvPicPr>
            <p:cNvPr id="1026" name="Picture 2" descr="https://computing.llnl.gov/tutorials/openMP/images/shared_mem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815" y="2790811"/>
              <a:ext cx="3943350" cy="2714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297815" y="5505438"/>
              <a:ext cx="4050934" cy="6963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/>
                <a:t>Uniform </a:t>
              </a:r>
              <a:r>
                <a:rPr lang="en-US" sz="1600" dirty="0"/>
                <a:t>Memory </a:t>
              </a:r>
              <a:r>
                <a:rPr lang="en-US" sz="1600" dirty="0" smtClean="0"/>
                <a:t>Access (</a:t>
              </a:r>
              <a:r>
                <a:rPr lang="en-US" sz="1600" dirty="0" smtClean="0">
                  <a:solidFill>
                    <a:srgbClr val="0070C0"/>
                  </a:solidFill>
                </a:rPr>
                <a:t>UMA</a:t>
              </a:r>
              <a:r>
                <a:rPr lang="en-US" sz="1600" dirty="0" smtClean="0"/>
                <a:t>)</a:t>
              </a:r>
              <a:r>
                <a:rPr lang="en-US" sz="1600" dirty="0"/>
                <a:t>	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857144" y="2866196"/>
            <a:ext cx="3859134" cy="2479749"/>
            <a:chOff x="4298690" y="3214674"/>
            <a:chExt cx="4919230" cy="2652966"/>
          </a:xfrm>
        </p:grpSpPr>
        <p:pic>
          <p:nvPicPr>
            <p:cNvPr id="1028" name="Picture 4" descr="https://computing.llnl.gov/tutorials/openMP/images/numa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3255" y="3214674"/>
              <a:ext cx="4610100" cy="1866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4298690" y="5505437"/>
              <a:ext cx="4919230" cy="3622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Non-Uniform Memory </a:t>
              </a:r>
              <a:r>
                <a:rPr lang="en-US" sz="1600" dirty="0" smtClean="0"/>
                <a:t>Access (</a:t>
              </a:r>
              <a:r>
                <a:rPr lang="en-US" sz="1600" dirty="0" smtClean="0">
                  <a:solidFill>
                    <a:srgbClr val="0070C0"/>
                  </a:solidFill>
                </a:rPr>
                <a:t>NUMA</a:t>
              </a:r>
              <a:r>
                <a:rPr lang="en-US" sz="1600" dirty="0" smtClean="0"/>
                <a:t>)</a:t>
              </a:r>
              <a:endParaRPr lang="en-US" sz="1600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301337" y="5613220"/>
            <a:ext cx="8541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solidFill>
                  <a:srgbClr val="002060"/>
                </a:solidFill>
                <a:latin typeface="+mj-lt"/>
              </a:rPr>
              <a:t>Because </a:t>
            </a:r>
            <a:r>
              <a:rPr lang="en-US" sz="1800" b="0" dirty="0" err="1">
                <a:solidFill>
                  <a:srgbClr val="002060"/>
                </a:solidFill>
                <a:latin typeface="+mj-lt"/>
              </a:rPr>
              <a:t>OpenMP</a:t>
            </a:r>
            <a:r>
              <a:rPr lang="en-US" sz="1800" b="0" dirty="0">
                <a:solidFill>
                  <a:srgbClr val="002060"/>
                </a:solidFill>
                <a:latin typeface="+mj-lt"/>
              </a:rPr>
              <a:t> is designed for </a:t>
            </a:r>
            <a:r>
              <a:rPr lang="en-US" sz="1800" b="0" i="1" u="sng" dirty="0">
                <a:solidFill>
                  <a:srgbClr val="FF0000"/>
                </a:solidFill>
                <a:latin typeface="+mj-lt"/>
              </a:rPr>
              <a:t>shared memory parallel </a:t>
            </a:r>
            <a:r>
              <a:rPr lang="en-US" sz="1800" b="0" i="1" u="sng" dirty="0" smtClean="0">
                <a:solidFill>
                  <a:srgbClr val="FF0000"/>
                </a:solidFill>
                <a:latin typeface="+mj-lt"/>
              </a:rPr>
              <a:t>programming</a:t>
            </a:r>
            <a:r>
              <a:rPr lang="en-US" sz="1800" b="0" dirty="0" smtClean="0">
                <a:solidFill>
                  <a:srgbClr val="002060"/>
                </a:solidFill>
                <a:latin typeface="+mj-lt"/>
              </a:rPr>
              <a:t>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2060"/>
                </a:solidFill>
                <a:latin typeface="+mj-lt"/>
              </a:rPr>
              <a:t>I</a:t>
            </a:r>
            <a:r>
              <a:rPr lang="en-US" sz="1800" b="0" dirty="0" smtClean="0">
                <a:solidFill>
                  <a:srgbClr val="002060"/>
                </a:solidFill>
                <a:latin typeface="+mj-lt"/>
              </a:rPr>
              <a:t>t </a:t>
            </a:r>
            <a:r>
              <a:rPr lang="en-US" sz="1800" b="0" dirty="0">
                <a:solidFill>
                  <a:srgbClr val="002060"/>
                </a:solidFill>
                <a:latin typeface="+mj-lt"/>
              </a:rPr>
              <a:t>is largely limited to single node parallelism.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dirty="0" smtClean="0">
                <a:solidFill>
                  <a:srgbClr val="002060"/>
                </a:solidFill>
                <a:latin typeface="+mj-lt"/>
              </a:rPr>
              <a:t>Typically</a:t>
            </a:r>
            <a:r>
              <a:rPr lang="en-US" sz="1800" b="0" dirty="0">
                <a:solidFill>
                  <a:srgbClr val="002060"/>
                </a:solidFill>
                <a:latin typeface="+mj-lt"/>
              </a:rPr>
              <a:t>, the number of processing elements (cores) on a node determine how much parallelism can be implemented.</a:t>
            </a:r>
          </a:p>
        </p:txBody>
      </p:sp>
    </p:spTree>
    <p:extLst>
      <p:ext uri="{BB962C8B-B14F-4D97-AF65-F5344CB8AC3E}">
        <p14:creationId xmlns:p14="http://schemas.microsoft.com/office/powerpoint/2010/main" val="362826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OpenMP</a:t>
            </a:r>
            <a:r>
              <a:rPr lang="en-US" dirty="0" smtClean="0"/>
              <a:t> is a Thread </a:t>
            </a:r>
            <a:r>
              <a:rPr lang="en-US" dirty="0"/>
              <a:t>Based Parallelism: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374461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000" dirty="0" err="1"/>
              <a:t>OpenMP</a:t>
            </a:r>
            <a:r>
              <a:rPr lang="en-US" sz="2000" dirty="0"/>
              <a:t> programs accomplish parallelism exclusively through the use of </a:t>
            </a:r>
            <a:r>
              <a:rPr lang="en-US" sz="2000" i="1" u="sng" dirty="0"/>
              <a:t>threads</a:t>
            </a:r>
            <a:r>
              <a:rPr lang="en-US" sz="2000" dirty="0"/>
              <a:t>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A thread of execution is the </a:t>
            </a:r>
            <a:r>
              <a:rPr lang="en-US" sz="2000" dirty="0">
                <a:solidFill>
                  <a:srgbClr val="FF0000"/>
                </a:solidFill>
              </a:rPr>
              <a:t>smallest</a:t>
            </a:r>
            <a:r>
              <a:rPr lang="en-US" sz="2000" dirty="0"/>
              <a:t> unit of processing that can be </a:t>
            </a:r>
            <a:r>
              <a:rPr lang="en-US" sz="2000" dirty="0" smtClean="0"/>
              <a:t>scheduled (</a:t>
            </a:r>
            <a:r>
              <a:rPr lang="en-US" sz="2000" dirty="0" smtClean="0">
                <a:solidFill>
                  <a:srgbClr val="0070C0"/>
                </a:solidFill>
              </a:rPr>
              <a:t>LWP</a:t>
            </a:r>
            <a:r>
              <a:rPr lang="en-US" sz="2000" dirty="0" smtClean="0"/>
              <a:t>) </a:t>
            </a:r>
            <a:r>
              <a:rPr lang="en-US" sz="2000" dirty="0"/>
              <a:t>by an operating system. </a:t>
            </a:r>
            <a:endParaRPr lang="en-US" sz="20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The </a:t>
            </a:r>
            <a:r>
              <a:rPr lang="en-US" sz="1600" dirty="0"/>
              <a:t>idea of a </a:t>
            </a:r>
            <a:r>
              <a:rPr lang="en-US" sz="1600" dirty="0">
                <a:solidFill>
                  <a:srgbClr val="FF0000"/>
                </a:solidFill>
              </a:rPr>
              <a:t>subroutine</a:t>
            </a:r>
            <a:r>
              <a:rPr lang="en-US" sz="1600" dirty="0"/>
              <a:t> that can be scheduled to run autonomously might help explain what a thread is.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Threads exist within the resources of a single process. </a:t>
            </a:r>
            <a:endParaRPr lang="en-US" sz="20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Without </a:t>
            </a:r>
            <a:r>
              <a:rPr lang="en-US" sz="1600" dirty="0"/>
              <a:t>the process, they cease to exist.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Typically, the number of threads match the number of machine </a:t>
            </a:r>
            <a:r>
              <a:rPr lang="en-US" sz="2000" dirty="0" smtClean="0"/>
              <a:t>processors/cores (</a:t>
            </a:r>
            <a:r>
              <a:rPr lang="en-US" sz="2000" i="1" dirty="0" smtClean="0"/>
              <a:t>but not limited </a:t>
            </a:r>
            <a:r>
              <a:rPr lang="en-US" sz="2000" i="1" dirty="0" smtClean="0">
                <a:sym typeface="Wingdings" panose="05000000000000000000" pitchFamily="2" charset="2"/>
              </a:rPr>
              <a:t></a:t>
            </a:r>
            <a:r>
              <a:rPr lang="en-US" sz="2000" dirty="0" smtClean="0"/>
              <a:t>).</a:t>
            </a:r>
          </a:p>
          <a:p>
            <a:pPr lvl="1">
              <a:spcBef>
                <a:spcPts val="600"/>
              </a:spcBef>
            </a:pPr>
            <a:r>
              <a:rPr lang="en-US" sz="1600" dirty="0" smtClean="0"/>
              <a:t>However</a:t>
            </a:r>
            <a:r>
              <a:rPr lang="en-US" sz="1600" dirty="0"/>
              <a:t>, the actual use of threads is up to the </a:t>
            </a:r>
            <a:r>
              <a:rPr lang="en-US" sz="1600" dirty="0" smtClean="0"/>
              <a:t>application/programmer.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5D5B8-26F2-4F1D-A221-C4DFB33BEBD3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5" name="Picture 2" descr="https://computing.llnl.gov/tutorials/openMP/images/fork_join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553744"/>
            <a:ext cx="76200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22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221044"/>
            <a:ext cx="7812087" cy="422275"/>
          </a:xfrm>
        </p:spPr>
        <p:txBody>
          <a:bodyPr/>
          <a:lstStyle/>
          <a:p>
            <a:r>
              <a:rPr lang="en-US" dirty="0" err="1"/>
              <a:t>OpenMP</a:t>
            </a:r>
            <a:r>
              <a:rPr lang="en-US" dirty="0"/>
              <a:t> </a:t>
            </a:r>
            <a:r>
              <a:rPr lang="en-US" dirty="0" smtClean="0"/>
              <a:t>Core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5752087"/>
          </a:xfrm>
        </p:spPr>
        <p:txBody>
          <a:bodyPr/>
          <a:lstStyle/>
          <a:p>
            <a:r>
              <a:rPr lang="en-US" dirty="0"/>
              <a:t>Most of the constructs in </a:t>
            </a:r>
            <a:r>
              <a:rPr lang="en-US" dirty="0" err="1"/>
              <a:t>OpenMP</a:t>
            </a:r>
            <a:r>
              <a:rPr lang="en-US" dirty="0"/>
              <a:t> are </a:t>
            </a:r>
            <a:r>
              <a:rPr lang="en-US" u="sng" dirty="0" smtClean="0">
                <a:solidFill>
                  <a:srgbClr val="FF0000"/>
                </a:solidFill>
              </a:rPr>
              <a:t>compiler directives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Syntax: </a:t>
            </a:r>
          </a:p>
          <a:p>
            <a:pPr lvl="2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construct [clause [clause]…]</a:t>
            </a:r>
          </a:p>
          <a:p>
            <a:pPr lvl="1"/>
            <a:r>
              <a:rPr lang="en-US" dirty="0" smtClean="0"/>
              <a:t>Examples:</a:t>
            </a:r>
          </a:p>
          <a:p>
            <a:pPr lvl="2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parallel </a:t>
            </a:r>
          </a:p>
          <a:p>
            <a:pPr lvl="2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parallel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num_threads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(4)</a:t>
            </a:r>
          </a:p>
          <a:p>
            <a:r>
              <a:rPr lang="en-US" dirty="0"/>
              <a:t>Function prototypes and types in the file</a:t>
            </a:r>
            <a:r>
              <a:rPr lang="en-US" dirty="0" smtClean="0"/>
              <a:t>:</a:t>
            </a:r>
          </a:p>
          <a:p>
            <a:pPr lvl="2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omp.h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400" dirty="0" smtClean="0"/>
          </a:p>
          <a:p>
            <a:r>
              <a:rPr lang="en-US" dirty="0" smtClean="0"/>
              <a:t>Most </a:t>
            </a:r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</a:rPr>
              <a:t>constructs</a:t>
            </a:r>
            <a:r>
              <a:rPr lang="en-US" dirty="0"/>
              <a:t> apply to </a:t>
            </a:r>
            <a:r>
              <a:rPr lang="en-US" dirty="0" smtClean="0"/>
              <a:t>a “</a:t>
            </a:r>
            <a:r>
              <a:rPr lang="en-US" dirty="0" smtClean="0">
                <a:solidFill>
                  <a:srgbClr val="FF0000"/>
                </a:solidFill>
              </a:rPr>
              <a:t>structured </a:t>
            </a:r>
            <a:r>
              <a:rPr lang="en-US" dirty="0">
                <a:solidFill>
                  <a:srgbClr val="FF0000"/>
                </a:solidFill>
              </a:rPr>
              <a:t>block</a:t>
            </a:r>
            <a:r>
              <a:rPr lang="en-US" dirty="0"/>
              <a:t>”.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Structured </a:t>
            </a:r>
            <a:r>
              <a:rPr lang="en-US" b="1" dirty="0">
                <a:solidFill>
                  <a:srgbClr val="FF0000"/>
                </a:solidFill>
              </a:rPr>
              <a:t>block</a:t>
            </a:r>
            <a:r>
              <a:rPr lang="en-US" dirty="0"/>
              <a:t>: a block of one or more </a:t>
            </a:r>
            <a:r>
              <a:rPr lang="en-US" dirty="0" smtClean="0"/>
              <a:t>statements with</a:t>
            </a:r>
            <a:br>
              <a:rPr lang="en-US" dirty="0" smtClean="0"/>
            </a:br>
            <a:r>
              <a:rPr lang="en-US" u="sng" dirty="0" smtClean="0"/>
              <a:t>one </a:t>
            </a:r>
            <a:r>
              <a:rPr lang="en-US" u="sng" dirty="0"/>
              <a:t>point of </a:t>
            </a:r>
            <a:r>
              <a:rPr lang="en-US" u="sng" dirty="0">
                <a:solidFill>
                  <a:srgbClr val="FF0000"/>
                </a:solidFill>
              </a:rPr>
              <a:t>entry</a:t>
            </a:r>
            <a:r>
              <a:rPr lang="en-US" u="sng" dirty="0"/>
              <a:t> </a:t>
            </a:r>
            <a:r>
              <a:rPr lang="en-US" dirty="0"/>
              <a:t>at the </a:t>
            </a:r>
            <a:r>
              <a:rPr lang="en-US" u="sng" dirty="0"/>
              <a:t>top</a:t>
            </a:r>
            <a:r>
              <a:rPr lang="en-US" dirty="0"/>
              <a:t> and </a:t>
            </a:r>
            <a:r>
              <a:rPr lang="en-US" u="sng" dirty="0"/>
              <a:t>one point </a:t>
            </a:r>
            <a:r>
              <a:rPr lang="en-US" u="sng" dirty="0" smtClean="0"/>
              <a:t>of </a:t>
            </a:r>
            <a:r>
              <a:rPr lang="en-US" u="sng" dirty="0" smtClean="0">
                <a:solidFill>
                  <a:srgbClr val="FF0000"/>
                </a:solidFill>
              </a:rPr>
              <a:t>exit</a:t>
            </a:r>
            <a:r>
              <a:rPr lang="en-US" dirty="0" smtClean="0"/>
              <a:t> </a:t>
            </a:r>
            <a:r>
              <a:rPr lang="en-US" dirty="0"/>
              <a:t>at the </a:t>
            </a:r>
            <a:r>
              <a:rPr lang="en-US" u="sng" dirty="0"/>
              <a:t>bottom</a:t>
            </a:r>
            <a:r>
              <a:rPr lang="en-US" dirty="0"/>
              <a:t>.</a:t>
            </a:r>
          </a:p>
          <a:p>
            <a:endParaRPr lang="en-US" sz="1100" dirty="0" smtClean="0"/>
          </a:p>
          <a:p>
            <a:pPr lvl="1"/>
            <a:r>
              <a:rPr lang="en-US" dirty="0"/>
              <a:t>No premature exits from the loop </a:t>
            </a:r>
            <a:r>
              <a:rPr lang="en-US" dirty="0" smtClean="0"/>
              <a:t>allowed (for now)</a:t>
            </a:r>
            <a:endParaRPr lang="en-US" dirty="0"/>
          </a:p>
          <a:p>
            <a:pPr lvl="2"/>
            <a:r>
              <a:rPr lang="en-US" dirty="0"/>
              <a:t>i.e. </a:t>
            </a:r>
            <a:r>
              <a:rPr lang="en-US" b="1" dirty="0">
                <a:solidFill>
                  <a:srgbClr val="FF0000"/>
                </a:solidFill>
              </a:rPr>
              <a:t>No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break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return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exit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goto</a:t>
            </a:r>
            <a:r>
              <a:rPr lang="en-US" dirty="0"/>
              <a:t> statements</a:t>
            </a:r>
          </a:p>
          <a:p>
            <a:pPr lvl="2"/>
            <a:r>
              <a:rPr lang="en-US" dirty="0"/>
              <a:t>In general, don’t jump outside of any </a:t>
            </a:r>
            <a:r>
              <a:rPr lang="en-US" sz="20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dirty="0"/>
              <a:t>block</a:t>
            </a:r>
          </a:p>
        </p:txBody>
      </p:sp>
    </p:spTree>
    <p:extLst>
      <p:ext uri="{BB962C8B-B14F-4D97-AF65-F5344CB8AC3E}">
        <p14:creationId xmlns:p14="http://schemas.microsoft.com/office/powerpoint/2010/main" val="269142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673" y="249227"/>
            <a:ext cx="7812087" cy="42227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Exercise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: </a:t>
            </a:r>
            <a:r>
              <a:rPr lang="en-US" dirty="0"/>
              <a:t>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672" y="728663"/>
            <a:ext cx="8502427" cy="315983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 smtClean="0">
                <a:latin typeface="+mj-lt"/>
              </a:rPr>
              <a:t>Write </a:t>
            </a:r>
            <a:r>
              <a:rPr lang="en-US" dirty="0">
                <a:latin typeface="+mj-lt"/>
              </a:rPr>
              <a:t>a program that prints “hello world</a:t>
            </a:r>
            <a:r>
              <a:rPr lang="en-US" dirty="0" smtClean="0">
                <a:latin typeface="+mj-lt"/>
              </a:rPr>
              <a:t>”.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+mj-lt"/>
              </a:rPr>
              <a:t>Verify that your environment works </a:t>
            </a:r>
            <a:r>
              <a:rPr lang="en-US" dirty="0" smtClean="0">
                <a:latin typeface="+mj-lt"/>
              </a:rPr>
              <a:t>?</a:t>
            </a:r>
            <a:r>
              <a:rPr lang="en-US" dirty="0" smtClean="0">
                <a:latin typeface="+mj-lt"/>
                <a:sym typeface="Wingdings" panose="05000000000000000000" pitchFamily="2" charset="2"/>
              </a:rPr>
              <a:t> </a:t>
            </a:r>
          </a:p>
          <a:p>
            <a:pPr lvl="2">
              <a:spcBef>
                <a:spcPts val="600"/>
              </a:spcBef>
            </a:pPr>
            <a:r>
              <a:rPr lang="en-US" dirty="0" err="1" smtClean="0">
                <a:latin typeface="+mj-lt"/>
                <a:sym typeface="Wingdings" panose="05000000000000000000" pitchFamily="2" charset="2"/>
              </a:rPr>
              <a:t>gcc</a:t>
            </a:r>
            <a:r>
              <a:rPr lang="en-US" dirty="0" smtClean="0">
                <a:latin typeface="+mj-lt"/>
                <a:sym typeface="Wingdings" panose="05000000000000000000" pitchFamily="2" charset="2"/>
              </a:rPr>
              <a:t>, WSL, or VM</a:t>
            </a:r>
          </a:p>
          <a:p>
            <a:pPr lvl="2">
              <a:spcBef>
                <a:spcPts val="600"/>
              </a:spcBef>
            </a:pPr>
            <a:r>
              <a:rPr lang="en-US" dirty="0">
                <a:latin typeface="+mj-lt"/>
              </a:rPr>
              <a:t>Write a program that prints “hello world</a:t>
            </a:r>
            <a:r>
              <a:rPr lang="en-US" dirty="0" smtClean="0">
                <a:latin typeface="+mj-lt"/>
              </a:rPr>
              <a:t>” in C; </a:t>
            </a:r>
            <a:r>
              <a:rPr lang="en-US" i="1" dirty="0" smtClean="0">
                <a:latin typeface="+mj-lt"/>
              </a:rPr>
              <a:t>no threads 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+mj-lt"/>
              </a:rPr>
              <a:t>Verify that your </a:t>
            </a:r>
            <a:r>
              <a:rPr lang="en-US" dirty="0" smtClean="0">
                <a:latin typeface="+mj-lt"/>
              </a:rPr>
              <a:t>C and GCC environment works ? Tryout </a:t>
            </a:r>
            <a:r>
              <a:rPr lang="en-US" sz="1800" dirty="0" err="1" smtClean="0"/>
              <a:t>OpenMP</a:t>
            </a:r>
            <a:endParaRPr lang="en-US" dirty="0" smtClean="0">
              <a:latin typeface="+mj-lt"/>
            </a:endParaRPr>
          </a:p>
          <a:p>
            <a:pPr lvl="2">
              <a:spcBef>
                <a:spcPts val="600"/>
              </a:spcBef>
            </a:pPr>
            <a:r>
              <a:rPr lang="en-US" dirty="0">
                <a:latin typeface="+mj-lt"/>
              </a:rPr>
              <a:t>Write a multithreaded program that prints “hello world</a:t>
            </a:r>
            <a:r>
              <a:rPr lang="en-US" dirty="0" smtClean="0">
                <a:latin typeface="+mj-lt"/>
              </a:rPr>
              <a:t>”</a:t>
            </a:r>
          </a:p>
          <a:p>
            <a:pPr lvl="3"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latin typeface="+mj-lt"/>
              </a:rPr>
              <a:t>Use / tryout the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openmp</a:t>
            </a:r>
            <a:r>
              <a:rPr 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latin typeface="+mj-lt"/>
              </a:rPr>
              <a:t>with the </a:t>
            </a:r>
            <a:r>
              <a:rPr lang="en-US" b="1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gcc</a:t>
            </a:r>
            <a:r>
              <a:rPr lang="en-US" b="1" dirty="0" smtClean="0">
                <a:latin typeface="+mj-lt"/>
              </a:rPr>
              <a:t> compiler </a:t>
            </a:r>
            <a:endParaRPr lang="en-US" b="1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5D5B8-26F2-4F1D-A221-C4DFB33BEBD3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67028" y="3554642"/>
            <a:ext cx="5504289" cy="3093797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  <a:ex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>
            <a:lvl1pPr marL="203200" indent="-203200" algn="l" rtl="0" eaLnBrk="0" fontAlgn="base" hangingPunct="0">
              <a:spcBef>
                <a:spcPct val="15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685800" indent="-190500" algn="l" rtl="0" eaLnBrk="0" fontAlgn="base" hangingPunct="0">
              <a:spcBef>
                <a:spcPct val="15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99"/>
                </a:solidFill>
                <a:latin typeface="+mn-lt"/>
                <a:ea typeface="MS PGothic" pitchFamily="34" charset="-128"/>
              </a:defRPr>
            </a:lvl2pPr>
            <a:lvl3pPr marL="12573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en-US" sz="2000" kern="0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kern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 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sz="2000" kern="0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omp.h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2000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kern="0" dirty="0" err="1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b="1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main()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kern="0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Do this part in parallel</a:t>
            </a:r>
            <a:endParaRPr lang="en-US" altLang="en-US" sz="2000" b="1" kern="0" dirty="0" smtClean="0">
              <a:solidFill>
                <a:schemeClr val="folHlin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kern="0" dirty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b="1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kern="0" dirty="0" smtClean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"Hello, World!\n"</a:t>
            </a:r>
            <a:r>
              <a:rPr lang="en-US" altLang="en-US" sz="2000" b="1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en-US" sz="2000" b="1" kern="0" dirty="0" smtClean="0">
              <a:solidFill>
                <a:schemeClr val="folHlin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en-US" sz="2000" b="1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kern="0" dirty="0" smtClean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072128" y="3888502"/>
            <a:ext cx="4796028" cy="584775"/>
            <a:chOff x="3328416" y="3041739"/>
            <a:chExt cx="5551932" cy="584775"/>
          </a:xfrm>
        </p:grpSpPr>
        <p:sp>
          <p:nvSpPr>
            <p:cNvPr id="7" name="Rectangle 6"/>
            <p:cNvSpPr/>
            <p:nvPr/>
          </p:nvSpPr>
          <p:spPr>
            <a:xfrm>
              <a:off x="6131052" y="3041739"/>
              <a:ext cx="2749296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0" dirty="0" err="1">
                  <a:solidFill>
                    <a:schemeClr val="tx1"/>
                  </a:solidFill>
                </a:rPr>
                <a:t>OpenMP</a:t>
              </a:r>
              <a:r>
                <a:rPr lang="en-US" sz="1600" b="0" dirty="0">
                  <a:solidFill>
                    <a:schemeClr val="tx1"/>
                  </a:solidFill>
                </a:rPr>
                <a:t> include </a:t>
              </a:r>
              <a:r>
                <a:rPr lang="en-US" sz="1600" b="0" dirty="0" smtClean="0">
                  <a:solidFill>
                    <a:schemeClr val="tx1"/>
                  </a:solidFill>
                </a:rPr>
                <a:t>file</a:t>
              </a:r>
            </a:p>
            <a:p>
              <a:r>
                <a:rPr lang="en-US" sz="1600" b="0" dirty="0" smtClean="0">
                  <a:solidFill>
                    <a:schemeClr val="tx1"/>
                  </a:solidFill>
                </a:rPr>
                <a:t>(Header file)</a:t>
              </a:r>
              <a:endParaRPr lang="en-US" sz="1600" b="0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7" idx="1"/>
            </p:cNvCxnSpPr>
            <p:nvPr/>
          </p:nvCxnSpPr>
          <p:spPr bwMode="auto">
            <a:xfrm flipH="1">
              <a:off x="3328416" y="3334127"/>
              <a:ext cx="2802636" cy="0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sm" len="sm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2765755" y="6450173"/>
            <a:ext cx="3396054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6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sample.c</a:t>
            </a:r>
            <a:r>
              <a:rPr lang="en-US" sz="1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fopenmp</a:t>
            </a:r>
            <a:endParaRPr 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04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FBE676D-632D-4514-9110-18FBCCCE163D}" type="slidenum">
              <a:rPr lang="en-US" altLang="en-US" sz="1400" b="0">
                <a:solidFill>
                  <a:schemeClr val="tx1"/>
                </a:solidFill>
                <a:latin typeface="Helvetica" panose="020B0604020202030204" pitchFamily="34" charset="0"/>
              </a:rPr>
              <a:pPr/>
              <a:t>7</a:t>
            </a:fld>
            <a:endParaRPr lang="en-US" altLang="en-US" sz="1400" b="0">
              <a:solidFill>
                <a:schemeClr val="tx1"/>
              </a:solidFill>
              <a:latin typeface="Helvetica" panose="020B060402020203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 smtClean="0"/>
              <a:t>OpenMP</a:t>
            </a:r>
            <a:r>
              <a:rPr lang="en-US" altLang="en-US" dirty="0" smtClean="0"/>
              <a:t>: Hello World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739423"/>
            <a:ext cx="8001000" cy="5263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>
            <a:lvl1pPr marL="203200" indent="-203200" algn="l" rtl="0" eaLnBrk="0" fontAlgn="base" hangingPunct="0">
              <a:spcBef>
                <a:spcPct val="15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685800" indent="-190500" algn="l" rtl="0" eaLnBrk="0" fontAlgn="base" hangingPunct="0">
              <a:spcBef>
                <a:spcPct val="15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99"/>
                </a:solidFill>
                <a:latin typeface="+mn-lt"/>
                <a:ea typeface="MS PGothic" pitchFamily="34" charset="-128"/>
              </a:defRPr>
            </a:lvl2pPr>
            <a:lvl3pPr marL="12573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9pPr>
          </a:lstStyle>
          <a:p>
            <a:pPr>
              <a:spcBef>
                <a:spcPts val="600"/>
              </a:spcBef>
            </a:pPr>
            <a:endParaRPr lang="en-US" altLang="en-US" sz="1400" b="1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sz="2000" kern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sz="2000" kern="0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omp.h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2000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kern="0" dirty="0" err="1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b="1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main()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altLang="en-US" sz="2000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this part in parallel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dirty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pragma </a:t>
            </a:r>
            <a:r>
              <a:rPr lang="en-US" alt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parallel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b="1" kern="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en-US" sz="2000" kern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ID = </a:t>
            </a:r>
            <a:r>
              <a:rPr lang="en-US" alt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omp_get_thread_num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endParaRPr lang="en-US" alt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Hello(%d) "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ID);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altLang="en-US" sz="2000" kern="0" dirty="0" smtClean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orld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(%d) \</a:t>
            </a:r>
            <a:r>
              <a:rPr lang="en-US" altLang="en-US" sz="2000" kern="0" dirty="0" smtClean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ID);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kern="0" dirty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en-US" sz="2000" b="1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kern="0" dirty="0" smtClean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791456" y="2688171"/>
            <a:ext cx="4235196" cy="584775"/>
            <a:chOff x="4645152" y="3041739"/>
            <a:chExt cx="4235196" cy="584775"/>
          </a:xfrm>
        </p:grpSpPr>
        <p:sp>
          <p:nvSpPr>
            <p:cNvPr id="4" name="Rectangle 3"/>
            <p:cNvSpPr/>
            <p:nvPr/>
          </p:nvSpPr>
          <p:spPr>
            <a:xfrm>
              <a:off x="6131052" y="3041739"/>
              <a:ext cx="2749296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0" dirty="0" smtClean="0">
                  <a:solidFill>
                    <a:schemeClr val="tx1"/>
                  </a:solidFill>
                </a:rPr>
                <a:t>Parallel </a:t>
              </a:r>
              <a:r>
                <a:rPr lang="en-US" sz="1600" b="0" dirty="0">
                  <a:solidFill>
                    <a:schemeClr val="tx1"/>
                  </a:solidFill>
                </a:rPr>
                <a:t>region with default number of threads</a:t>
              </a:r>
            </a:p>
          </p:txBody>
        </p:sp>
        <p:cxnSp>
          <p:nvCxnSpPr>
            <p:cNvPr id="6" name="Straight Arrow Connector 5"/>
            <p:cNvCxnSpPr>
              <a:stCxn id="4" idx="1"/>
            </p:cNvCxnSpPr>
            <p:nvPr/>
          </p:nvCxnSpPr>
          <p:spPr bwMode="auto">
            <a:xfrm flipH="1" flipV="1">
              <a:off x="4645152" y="3334126"/>
              <a:ext cx="1485900" cy="1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sm" len="sm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3474720" y="1318493"/>
            <a:ext cx="5551932" cy="584775"/>
            <a:chOff x="3328416" y="3041739"/>
            <a:chExt cx="5551932" cy="584775"/>
          </a:xfrm>
        </p:grpSpPr>
        <p:sp>
          <p:nvSpPr>
            <p:cNvPr id="15" name="Rectangle 14"/>
            <p:cNvSpPr/>
            <p:nvPr/>
          </p:nvSpPr>
          <p:spPr>
            <a:xfrm>
              <a:off x="6131052" y="3041739"/>
              <a:ext cx="2749296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0" dirty="0" err="1">
                  <a:solidFill>
                    <a:schemeClr val="tx1"/>
                  </a:solidFill>
                </a:rPr>
                <a:t>OpenMP</a:t>
              </a:r>
              <a:r>
                <a:rPr lang="en-US" sz="1600" b="0" dirty="0">
                  <a:solidFill>
                    <a:schemeClr val="tx1"/>
                  </a:solidFill>
                </a:rPr>
                <a:t> include </a:t>
              </a:r>
              <a:r>
                <a:rPr lang="en-US" sz="1600" b="0" dirty="0" smtClean="0">
                  <a:solidFill>
                    <a:schemeClr val="tx1"/>
                  </a:solidFill>
                </a:rPr>
                <a:t>file</a:t>
              </a:r>
            </a:p>
            <a:p>
              <a:r>
                <a:rPr lang="en-US" sz="1600" b="0" dirty="0" smtClean="0">
                  <a:solidFill>
                    <a:schemeClr val="tx1"/>
                  </a:solidFill>
                </a:rPr>
                <a:t>(Header file)</a:t>
              </a:r>
              <a:endParaRPr lang="en-US" sz="1600" b="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15"/>
            <p:cNvCxnSpPr>
              <a:stCxn id="15" idx="1"/>
            </p:cNvCxnSpPr>
            <p:nvPr/>
          </p:nvCxnSpPr>
          <p:spPr bwMode="auto">
            <a:xfrm flipH="1">
              <a:off x="3328416" y="3334127"/>
              <a:ext cx="2802636" cy="0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sm" len="sm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457200" y="5131083"/>
            <a:ext cx="1621536" cy="1459574"/>
            <a:chOff x="940324" y="1461420"/>
            <a:chExt cx="1621536" cy="1459574"/>
          </a:xfrm>
        </p:grpSpPr>
        <p:sp>
          <p:nvSpPr>
            <p:cNvPr id="19" name="Rectangle 18"/>
            <p:cNvSpPr/>
            <p:nvPr/>
          </p:nvSpPr>
          <p:spPr>
            <a:xfrm>
              <a:off x="940324" y="2336219"/>
              <a:ext cx="1621536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0" dirty="0" smtClean="0">
                  <a:solidFill>
                    <a:schemeClr val="tx1"/>
                  </a:solidFill>
                </a:rPr>
                <a:t>End </a:t>
              </a:r>
              <a:r>
                <a:rPr lang="en-US" sz="1600" b="0" dirty="0">
                  <a:solidFill>
                    <a:schemeClr val="tx1"/>
                  </a:solidFill>
                </a:rPr>
                <a:t>of the Parallel </a:t>
              </a:r>
              <a:r>
                <a:rPr lang="en-US" sz="1600" b="0" dirty="0" smtClean="0">
                  <a:solidFill>
                    <a:schemeClr val="tx1"/>
                  </a:solidFill>
                </a:rPr>
                <a:t>region</a:t>
              </a:r>
              <a:endParaRPr lang="en-US" sz="1600" b="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Arrow Connector 19"/>
            <p:cNvCxnSpPr>
              <a:stCxn id="19" idx="0"/>
            </p:cNvCxnSpPr>
            <p:nvPr/>
          </p:nvCxnSpPr>
          <p:spPr bwMode="auto">
            <a:xfrm flipV="1">
              <a:off x="1751092" y="1461420"/>
              <a:ext cx="219456" cy="874799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sm" len="sm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6277356" y="3845543"/>
            <a:ext cx="2749296" cy="1870315"/>
            <a:chOff x="5562600" y="3415244"/>
            <a:chExt cx="2749296" cy="1870315"/>
          </a:xfrm>
        </p:grpSpPr>
        <p:sp>
          <p:nvSpPr>
            <p:cNvPr id="24" name="Rectangle 23"/>
            <p:cNvSpPr/>
            <p:nvPr/>
          </p:nvSpPr>
          <p:spPr>
            <a:xfrm>
              <a:off x="5562600" y="4700784"/>
              <a:ext cx="2749296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0" dirty="0">
                  <a:solidFill>
                    <a:schemeClr val="tx1"/>
                  </a:solidFill>
                </a:rPr>
                <a:t>Runtime library function to </a:t>
              </a:r>
              <a:r>
                <a:rPr lang="en-US" sz="1600" b="0" dirty="0" smtClean="0">
                  <a:solidFill>
                    <a:schemeClr val="tx1"/>
                  </a:solidFill>
                </a:rPr>
                <a:t>return a thread ID</a:t>
              </a:r>
              <a:endParaRPr lang="en-US" sz="1600" b="0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Arrow Connector 24"/>
            <p:cNvCxnSpPr>
              <a:stCxn id="24" idx="0"/>
            </p:cNvCxnSpPr>
            <p:nvPr/>
          </p:nvCxnSpPr>
          <p:spPr bwMode="auto">
            <a:xfrm flipH="1" flipV="1">
              <a:off x="5966460" y="3415244"/>
              <a:ext cx="970788" cy="1285540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sm" len="sm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FBE676D-632D-4514-9110-18FBCCCE163D}" type="slidenum">
              <a:rPr lang="en-US" altLang="en-US" sz="1400" b="0">
                <a:solidFill>
                  <a:schemeClr val="tx1"/>
                </a:solidFill>
                <a:latin typeface="Helvetica" panose="020B0604020202030204" pitchFamily="34" charset="0"/>
              </a:rPr>
              <a:pPr/>
              <a:t>8</a:t>
            </a:fld>
            <a:endParaRPr lang="en-US" altLang="en-US" sz="1400" b="0">
              <a:solidFill>
                <a:schemeClr val="tx1"/>
              </a:solidFill>
              <a:latin typeface="Helvetica" panose="020B060402020203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OpenMP</a:t>
            </a:r>
            <a:r>
              <a:rPr lang="en-US" altLang="en-US" dirty="0"/>
              <a:t>: Hello World</a:t>
            </a:r>
            <a:endParaRPr lang="en-US" altLang="en-US" dirty="0" smtClean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739423"/>
            <a:ext cx="8001000" cy="603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>
            <a:lvl1pPr marL="203200" indent="-203200" algn="l" rtl="0" eaLnBrk="0" fontAlgn="base" hangingPunct="0">
              <a:spcBef>
                <a:spcPct val="15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685800" indent="-190500" algn="l" rtl="0" eaLnBrk="0" fontAlgn="base" hangingPunct="0">
              <a:spcBef>
                <a:spcPct val="15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rgbClr val="000099"/>
                </a:solidFill>
                <a:latin typeface="+mn-lt"/>
                <a:ea typeface="MS PGothic" pitchFamily="34" charset="-128"/>
              </a:defRPr>
            </a:lvl2pPr>
            <a:lvl3pPr marL="12573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100000"/>
              <a:buChar char="•"/>
              <a:defRPr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itchFamily="1" charset="0"/>
              </a:defRPr>
            </a:lvl9pPr>
          </a:lstStyle>
          <a:p>
            <a:pPr>
              <a:spcBef>
                <a:spcPts val="600"/>
              </a:spcBef>
            </a:pPr>
            <a:endParaRPr lang="en-US" altLang="en-US" sz="1400" b="1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sz="2000" kern="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sz="2000" kern="0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omp.h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2000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kern="0" dirty="0" err="1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b="1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main() 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60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omp_set_num_threads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ts val="600"/>
              </a:spcBef>
              <a:buFontTx/>
              <a:buNone/>
            </a:pPr>
            <a:endParaRPr lang="en-US" altLang="en-US" sz="2000" b="1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altLang="en-US" sz="2000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this part in parallel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dirty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pragma </a:t>
            </a:r>
            <a:r>
              <a:rPr lang="en-US" alt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parallel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b="1" kern="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en-US" sz="2000" kern="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ID = </a:t>
            </a:r>
            <a:r>
              <a:rPr lang="en-US" alt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omp_get_thread_num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endParaRPr lang="en-US" altLang="en-US" sz="2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Hello(%d) "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ID);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altLang="en-US" sz="2000" kern="0" dirty="0" smtClean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orld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(%d) \</a:t>
            </a:r>
            <a:r>
              <a:rPr lang="en-US" altLang="en-US" sz="2000" kern="0" dirty="0" smtClean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000" kern="0" dirty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ID);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kern="0" dirty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en-US" sz="2000" b="1" kern="0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kern="0" dirty="0" smtClean="0">
                <a:solidFill>
                  <a:srgbClr val="FF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771644" y="3487985"/>
            <a:ext cx="4235196" cy="584775"/>
            <a:chOff x="4645152" y="3041739"/>
            <a:chExt cx="4235196" cy="584775"/>
          </a:xfrm>
        </p:grpSpPr>
        <p:sp>
          <p:nvSpPr>
            <p:cNvPr id="4" name="Rectangle 3"/>
            <p:cNvSpPr/>
            <p:nvPr/>
          </p:nvSpPr>
          <p:spPr>
            <a:xfrm>
              <a:off x="6131052" y="3041739"/>
              <a:ext cx="2749296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0" dirty="0" smtClean="0">
                  <a:solidFill>
                    <a:schemeClr val="tx1"/>
                  </a:solidFill>
                </a:rPr>
                <a:t>Starts the Parallel </a:t>
              </a:r>
              <a:r>
                <a:rPr lang="en-US" sz="1600" b="0" dirty="0">
                  <a:solidFill>
                    <a:schemeClr val="tx1"/>
                  </a:solidFill>
                </a:rPr>
                <a:t>region with </a:t>
              </a:r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  <a:r>
                <a:rPr lang="en-US" sz="1600" b="0" dirty="0" smtClean="0">
                  <a:solidFill>
                    <a:schemeClr val="tx1"/>
                  </a:solidFill>
                </a:rPr>
                <a:t> threads</a:t>
              </a:r>
              <a:endParaRPr lang="en-US" sz="1600" b="0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Straight Arrow Connector 5"/>
            <p:cNvCxnSpPr>
              <a:stCxn id="4" idx="1"/>
            </p:cNvCxnSpPr>
            <p:nvPr/>
          </p:nvCxnSpPr>
          <p:spPr bwMode="auto">
            <a:xfrm flipH="1" flipV="1">
              <a:off x="4645152" y="3334126"/>
              <a:ext cx="1485900" cy="1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sm" len="sm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3474720" y="1318493"/>
            <a:ext cx="5551932" cy="584775"/>
            <a:chOff x="3328416" y="3041739"/>
            <a:chExt cx="5551932" cy="584775"/>
          </a:xfrm>
        </p:grpSpPr>
        <p:sp>
          <p:nvSpPr>
            <p:cNvPr id="15" name="Rectangle 14"/>
            <p:cNvSpPr/>
            <p:nvPr/>
          </p:nvSpPr>
          <p:spPr>
            <a:xfrm>
              <a:off x="6131052" y="3041739"/>
              <a:ext cx="2749296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0" dirty="0" err="1">
                  <a:solidFill>
                    <a:schemeClr val="tx1"/>
                  </a:solidFill>
                </a:rPr>
                <a:t>OpenMP</a:t>
              </a:r>
              <a:r>
                <a:rPr lang="en-US" sz="1600" b="0" dirty="0">
                  <a:solidFill>
                    <a:schemeClr val="tx1"/>
                  </a:solidFill>
                </a:rPr>
                <a:t> include </a:t>
              </a:r>
              <a:r>
                <a:rPr lang="en-US" sz="1600" b="0" dirty="0" smtClean="0">
                  <a:solidFill>
                    <a:schemeClr val="tx1"/>
                  </a:solidFill>
                </a:rPr>
                <a:t>file</a:t>
              </a:r>
            </a:p>
            <a:p>
              <a:r>
                <a:rPr lang="en-US" sz="1600" b="0" dirty="0" smtClean="0">
                  <a:solidFill>
                    <a:schemeClr val="tx1"/>
                  </a:solidFill>
                </a:rPr>
                <a:t>(Header file)</a:t>
              </a:r>
              <a:endParaRPr lang="en-US" sz="1600" b="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15"/>
            <p:cNvCxnSpPr>
              <a:stCxn id="15" idx="1"/>
            </p:cNvCxnSpPr>
            <p:nvPr/>
          </p:nvCxnSpPr>
          <p:spPr bwMode="auto">
            <a:xfrm flipH="1">
              <a:off x="3328416" y="3334127"/>
              <a:ext cx="2802636" cy="0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sm" len="sm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28016" y="4831277"/>
            <a:ext cx="1621536" cy="947731"/>
            <a:chOff x="940324" y="2336219"/>
            <a:chExt cx="1621536" cy="947731"/>
          </a:xfrm>
        </p:grpSpPr>
        <p:sp>
          <p:nvSpPr>
            <p:cNvPr id="19" name="Rectangle 18"/>
            <p:cNvSpPr/>
            <p:nvPr/>
          </p:nvSpPr>
          <p:spPr>
            <a:xfrm>
              <a:off x="940324" y="2336219"/>
              <a:ext cx="1621536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0" dirty="0" smtClean="0">
                  <a:solidFill>
                    <a:schemeClr val="tx1"/>
                  </a:solidFill>
                </a:rPr>
                <a:t>End </a:t>
              </a:r>
              <a:r>
                <a:rPr lang="en-US" sz="1600" b="0" dirty="0">
                  <a:solidFill>
                    <a:schemeClr val="tx1"/>
                  </a:solidFill>
                </a:rPr>
                <a:t>of the Parallel </a:t>
              </a:r>
              <a:r>
                <a:rPr lang="en-US" sz="1600" b="0" dirty="0" smtClean="0">
                  <a:solidFill>
                    <a:schemeClr val="tx1"/>
                  </a:solidFill>
                </a:rPr>
                <a:t>region</a:t>
              </a:r>
              <a:endParaRPr lang="en-US" sz="1600" b="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Arrow Connector 19"/>
            <p:cNvCxnSpPr>
              <a:stCxn id="19" idx="2"/>
            </p:cNvCxnSpPr>
            <p:nvPr/>
          </p:nvCxnSpPr>
          <p:spPr bwMode="auto">
            <a:xfrm>
              <a:off x="1751092" y="2920994"/>
              <a:ext cx="512064" cy="362956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sm" len="sm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6257544" y="4533234"/>
            <a:ext cx="2749296" cy="1870315"/>
            <a:chOff x="5562600" y="3415244"/>
            <a:chExt cx="2749296" cy="1870315"/>
          </a:xfrm>
        </p:grpSpPr>
        <p:sp>
          <p:nvSpPr>
            <p:cNvPr id="24" name="Rectangle 23"/>
            <p:cNvSpPr/>
            <p:nvPr/>
          </p:nvSpPr>
          <p:spPr>
            <a:xfrm>
              <a:off x="5562600" y="4700784"/>
              <a:ext cx="2749296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0" dirty="0">
                  <a:solidFill>
                    <a:schemeClr val="tx1"/>
                  </a:solidFill>
                </a:rPr>
                <a:t>Runtime library function to </a:t>
              </a:r>
              <a:r>
                <a:rPr lang="en-US" sz="1600" b="0" dirty="0" smtClean="0">
                  <a:solidFill>
                    <a:schemeClr val="tx1"/>
                  </a:solidFill>
                </a:rPr>
                <a:t>return a thread ID</a:t>
              </a:r>
              <a:endParaRPr lang="en-US" sz="1600" b="0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Arrow Connector 24"/>
            <p:cNvCxnSpPr>
              <a:stCxn id="24" idx="0"/>
            </p:cNvCxnSpPr>
            <p:nvPr/>
          </p:nvCxnSpPr>
          <p:spPr bwMode="auto">
            <a:xfrm flipH="1" flipV="1">
              <a:off x="5966460" y="3415244"/>
              <a:ext cx="970788" cy="1285540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sm" len="sm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5096256" y="2463832"/>
            <a:ext cx="3916680" cy="584775"/>
            <a:chOff x="4963668" y="3041739"/>
            <a:chExt cx="3916680" cy="584775"/>
          </a:xfrm>
        </p:grpSpPr>
        <p:sp>
          <p:nvSpPr>
            <p:cNvPr id="22" name="Rectangle 21"/>
            <p:cNvSpPr/>
            <p:nvPr/>
          </p:nvSpPr>
          <p:spPr>
            <a:xfrm>
              <a:off x="6131052" y="3041739"/>
              <a:ext cx="2749296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0" dirty="0" smtClean="0">
                  <a:solidFill>
                    <a:schemeClr val="tx1"/>
                  </a:solidFill>
                </a:rPr>
                <a:t>Sets the number </a:t>
              </a:r>
              <a:r>
                <a:rPr lang="en-US" sz="1600" b="0" dirty="0">
                  <a:solidFill>
                    <a:schemeClr val="tx1"/>
                  </a:solidFill>
                </a:rPr>
                <a:t>of </a:t>
              </a:r>
              <a:r>
                <a:rPr lang="en-US" sz="1600" b="0" dirty="0" smtClean="0">
                  <a:solidFill>
                    <a:schemeClr val="tx1"/>
                  </a:solidFill>
                </a:rPr>
                <a:t>threads for the Parallel Region</a:t>
              </a:r>
              <a:endParaRPr lang="en-US" sz="1600" b="0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Straight Arrow Connector 25"/>
            <p:cNvCxnSpPr>
              <a:stCxn id="22" idx="1"/>
            </p:cNvCxnSpPr>
            <p:nvPr/>
          </p:nvCxnSpPr>
          <p:spPr bwMode="auto">
            <a:xfrm flipH="1">
              <a:off x="4963668" y="3334127"/>
              <a:ext cx="1167384" cy="1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sm" len="sm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89986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F953FE-0936-460C-A828-041920C95422}" type="slidenum">
              <a:rPr lang="en-US" altLang="en-US" sz="1400" b="0">
                <a:solidFill>
                  <a:schemeClr val="tx1"/>
                </a:solidFill>
                <a:latin typeface="Helvetica" panose="020B0604020202030204" pitchFamily="34" charset="0"/>
              </a:rPr>
              <a:pPr/>
              <a:t>9</a:t>
            </a:fld>
            <a:endParaRPr lang="en-US" altLang="en-US" sz="1400" b="0">
              <a:solidFill>
                <a:schemeClr val="tx1"/>
              </a:solidFill>
              <a:latin typeface="Helvetica" panose="020B060402020203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OpenMP</a:t>
            </a:r>
            <a:r>
              <a:rPr lang="en-US" altLang="en-US" dirty="0"/>
              <a:t>: Hello World</a:t>
            </a:r>
            <a:endParaRPr lang="en-US" altLang="en-US" dirty="0" smtClean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1692" y="914400"/>
            <a:ext cx="8258908" cy="5200527"/>
          </a:xfrm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endParaRPr lang="en-US" altLang="en-US" sz="1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600" b="1" dirty="0" smtClean="0">
              <a:solidFill>
                <a:schemeClr val="folHlin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sz="1800" b="1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omp.h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endParaRPr lang="en-US" altLang="en-US" sz="1800" b="1" dirty="0" smtClean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1800" b="1" dirty="0" err="1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omp_set_num_threads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endParaRPr lang="en-US" alt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1800" b="1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smtClean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 this part in parallel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1800" b="1" dirty="0" smtClean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altLang="en-US" sz="18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altLang="en-US" sz="18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parallel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altLang="en-US" sz="1800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"Hello, World!\n"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endParaRPr lang="en-US" altLang="en-US" sz="1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altLang="en-US" sz="1800" b="1" dirty="0" smtClean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800" dirty="0" smtClean="0">
              <a:solidFill>
                <a:srgbClr val="0536D2"/>
              </a:solidFill>
            </a:endParaRPr>
          </a:p>
          <a:p>
            <a:pPr>
              <a:lnSpc>
                <a:spcPct val="95000"/>
              </a:lnSpc>
              <a:spcBef>
                <a:spcPct val="10000"/>
              </a:spcBef>
              <a:buFontTx/>
              <a:buNone/>
            </a:pPr>
            <a:endParaRPr lang="en-US" altLang="en-US" sz="1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148376" y="1703252"/>
            <a:ext cx="3670300" cy="3010998"/>
            <a:chOff x="5148376" y="1703252"/>
            <a:chExt cx="3670300" cy="2276475"/>
          </a:xfrm>
        </p:grpSpPr>
        <p:grpSp>
          <p:nvGrpSpPr>
            <p:cNvPr id="2" name="Group 16"/>
            <p:cNvGrpSpPr>
              <a:grpSpLocks/>
            </p:cNvGrpSpPr>
            <p:nvPr/>
          </p:nvGrpSpPr>
          <p:grpSpPr bwMode="auto">
            <a:xfrm>
              <a:off x="5148376" y="1703252"/>
              <a:ext cx="3670300" cy="2276475"/>
              <a:chOff x="3680" y="1054"/>
              <a:chExt cx="1792" cy="1434"/>
            </a:xfrm>
          </p:grpSpPr>
          <p:sp>
            <p:nvSpPr>
              <p:cNvPr id="7178" name="Line 21"/>
              <p:cNvSpPr>
                <a:spLocks noChangeShapeType="1"/>
              </p:cNvSpPr>
              <p:nvPr/>
            </p:nvSpPr>
            <p:spPr bwMode="auto">
              <a:xfrm>
                <a:off x="4525" y="1054"/>
                <a:ext cx="0" cy="367"/>
              </a:xfrm>
              <a:prstGeom prst="line">
                <a:avLst/>
              </a:prstGeom>
              <a:noFill/>
              <a:ln w="57150">
                <a:solidFill>
                  <a:schemeClr val="accent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ourier"/>
                </a:endParaRPr>
              </a:p>
            </p:txBody>
          </p:sp>
          <p:grpSp>
            <p:nvGrpSpPr>
              <p:cNvPr id="7179" name="Group 26"/>
              <p:cNvGrpSpPr>
                <a:grpSpLocks/>
              </p:cNvGrpSpPr>
              <p:nvPr/>
            </p:nvGrpSpPr>
            <p:grpSpPr bwMode="auto">
              <a:xfrm>
                <a:off x="3680" y="1428"/>
                <a:ext cx="1792" cy="720"/>
                <a:chOff x="3368" y="1564"/>
                <a:chExt cx="1792" cy="720"/>
              </a:xfrm>
            </p:grpSpPr>
            <p:grpSp>
              <p:nvGrpSpPr>
                <p:cNvPr id="7181" name="Group 27"/>
                <p:cNvGrpSpPr>
                  <a:grpSpLocks/>
                </p:cNvGrpSpPr>
                <p:nvPr/>
              </p:nvGrpSpPr>
              <p:grpSpPr bwMode="auto">
                <a:xfrm>
                  <a:off x="3824" y="1568"/>
                  <a:ext cx="400" cy="716"/>
                  <a:chOff x="3960" y="1248"/>
                  <a:chExt cx="400" cy="716"/>
                </a:xfrm>
              </p:grpSpPr>
              <p:sp>
                <p:nvSpPr>
                  <p:cNvPr id="7196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960" y="1456"/>
                    <a:ext cx="400" cy="296"/>
                  </a:xfrm>
                  <a:prstGeom prst="rect">
                    <a:avLst/>
                  </a:prstGeom>
                  <a:solidFill>
                    <a:schemeClr val="accent1">
                      <a:alpha val="25000"/>
                    </a:schemeClr>
                  </a:solidFill>
                  <a:ln w="12700">
                    <a:solidFill>
                      <a:schemeClr val="accent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>
                      <a:latin typeface="Courier"/>
                    </a:endParaRPr>
                  </a:p>
                </p:txBody>
              </p:sp>
              <p:sp>
                <p:nvSpPr>
                  <p:cNvPr id="7197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4168" y="1756"/>
                    <a:ext cx="0" cy="208"/>
                  </a:xfrm>
                  <a:prstGeom prst="line">
                    <a:avLst/>
                  </a:prstGeom>
                  <a:noFill/>
                  <a:ln w="57150">
                    <a:solidFill>
                      <a:schemeClr val="accent1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>
                      <a:latin typeface="Courier"/>
                    </a:endParaRPr>
                  </a:p>
                </p:txBody>
              </p:sp>
              <p:sp>
                <p:nvSpPr>
                  <p:cNvPr id="7198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4160" y="1248"/>
                    <a:ext cx="0" cy="208"/>
                  </a:xfrm>
                  <a:prstGeom prst="line">
                    <a:avLst/>
                  </a:prstGeom>
                  <a:noFill/>
                  <a:ln w="57150">
                    <a:solidFill>
                      <a:schemeClr val="accent1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>
                      <a:latin typeface="Courier"/>
                    </a:endParaRPr>
                  </a:p>
                </p:txBody>
              </p:sp>
            </p:grpSp>
            <p:grpSp>
              <p:nvGrpSpPr>
                <p:cNvPr id="7182" name="Group 31"/>
                <p:cNvGrpSpPr>
                  <a:grpSpLocks/>
                </p:cNvGrpSpPr>
                <p:nvPr/>
              </p:nvGrpSpPr>
              <p:grpSpPr bwMode="auto">
                <a:xfrm>
                  <a:off x="4296" y="1568"/>
                  <a:ext cx="400" cy="716"/>
                  <a:chOff x="3960" y="1248"/>
                  <a:chExt cx="400" cy="716"/>
                </a:xfrm>
              </p:grpSpPr>
              <p:sp>
                <p:nvSpPr>
                  <p:cNvPr id="7193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3960" y="1456"/>
                    <a:ext cx="400" cy="296"/>
                  </a:xfrm>
                  <a:prstGeom prst="rect">
                    <a:avLst/>
                  </a:prstGeom>
                  <a:solidFill>
                    <a:schemeClr val="accent1">
                      <a:alpha val="25000"/>
                    </a:schemeClr>
                  </a:solidFill>
                  <a:ln w="12700">
                    <a:solidFill>
                      <a:schemeClr val="accent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>
                      <a:latin typeface="Courier"/>
                    </a:endParaRPr>
                  </a:p>
                </p:txBody>
              </p:sp>
              <p:sp>
                <p:nvSpPr>
                  <p:cNvPr id="7194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4168" y="1756"/>
                    <a:ext cx="0" cy="208"/>
                  </a:xfrm>
                  <a:prstGeom prst="line">
                    <a:avLst/>
                  </a:prstGeom>
                  <a:noFill/>
                  <a:ln w="57150">
                    <a:solidFill>
                      <a:schemeClr val="accent1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>
                      <a:latin typeface="Courier"/>
                    </a:endParaRPr>
                  </a:p>
                </p:txBody>
              </p:sp>
              <p:sp>
                <p:nvSpPr>
                  <p:cNvPr id="7195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4160" y="1248"/>
                    <a:ext cx="0" cy="208"/>
                  </a:xfrm>
                  <a:prstGeom prst="line">
                    <a:avLst/>
                  </a:prstGeom>
                  <a:noFill/>
                  <a:ln w="57150">
                    <a:solidFill>
                      <a:schemeClr val="accent1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>
                      <a:latin typeface="Courier"/>
                    </a:endParaRPr>
                  </a:p>
                </p:txBody>
              </p:sp>
            </p:grpSp>
            <p:grpSp>
              <p:nvGrpSpPr>
                <p:cNvPr id="7183" name="Group 35"/>
                <p:cNvGrpSpPr>
                  <a:grpSpLocks/>
                </p:cNvGrpSpPr>
                <p:nvPr/>
              </p:nvGrpSpPr>
              <p:grpSpPr bwMode="auto">
                <a:xfrm>
                  <a:off x="4760" y="1568"/>
                  <a:ext cx="400" cy="716"/>
                  <a:chOff x="3960" y="1248"/>
                  <a:chExt cx="400" cy="716"/>
                </a:xfrm>
              </p:grpSpPr>
              <p:sp>
                <p:nvSpPr>
                  <p:cNvPr id="7190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3960" y="1456"/>
                    <a:ext cx="400" cy="296"/>
                  </a:xfrm>
                  <a:prstGeom prst="rect">
                    <a:avLst/>
                  </a:prstGeom>
                  <a:solidFill>
                    <a:schemeClr val="accent1">
                      <a:alpha val="25000"/>
                    </a:schemeClr>
                  </a:solidFill>
                  <a:ln w="12700">
                    <a:solidFill>
                      <a:schemeClr val="accent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>
                      <a:latin typeface="Courier"/>
                    </a:endParaRPr>
                  </a:p>
                </p:txBody>
              </p:sp>
              <p:sp>
                <p:nvSpPr>
                  <p:cNvPr id="7191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4164" y="1756"/>
                    <a:ext cx="0" cy="208"/>
                  </a:xfrm>
                  <a:prstGeom prst="line">
                    <a:avLst/>
                  </a:prstGeom>
                  <a:noFill/>
                  <a:ln w="57150">
                    <a:solidFill>
                      <a:schemeClr val="accent1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>
                      <a:latin typeface="Courier"/>
                    </a:endParaRPr>
                  </a:p>
                </p:txBody>
              </p:sp>
              <p:sp>
                <p:nvSpPr>
                  <p:cNvPr id="7192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4160" y="1248"/>
                    <a:ext cx="0" cy="208"/>
                  </a:xfrm>
                  <a:prstGeom prst="line">
                    <a:avLst/>
                  </a:prstGeom>
                  <a:noFill/>
                  <a:ln w="57150">
                    <a:solidFill>
                      <a:schemeClr val="accent1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>
                      <a:latin typeface="Courier"/>
                    </a:endParaRPr>
                  </a:p>
                </p:txBody>
              </p:sp>
            </p:grpSp>
            <p:grpSp>
              <p:nvGrpSpPr>
                <p:cNvPr id="7184" name="Group 39"/>
                <p:cNvGrpSpPr>
                  <a:grpSpLocks/>
                </p:cNvGrpSpPr>
                <p:nvPr/>
              </p:nvGrpSpPr>
              <p:grpSpPr bwMode="auto">
                <a:xfrm>
                  <a:off x="3368" y="1568"/>
                  <a:ext cx="400" cy="716"/>
                  <a:chOff x="3960" y="1248"/>
                  <a:chExt cx="400" cy="716"/>
                </a:xfrm>
              </p:grpSpPr>
              <p:sp>
                <p:nvSpPr>
                  <p:cNvPr id="18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3960" y="1456"/>
                    <a:ext cx="400" cy="296"/>
                  </a:xfrm>
                  <a:prstGeom prst="rect">
                    <a:avLst/>
                  </a:prstGeom>
                  <a:solidFill>
                    <a:schemeClr val="accent1">
                      <a:alpha val="25000"/>
                    </a:schemeClr>
                  </a:solidFill>
                  <a:ln w="12700">
                    <a:solidFill>
                      <a:schemeClr val="accent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r>
                      <a:rPr lang="en-US" sz="1400" dirty="0" err="1">
                        <a:solidFill>
                          <a:schemeClr val="accent6"/>
                        </a:solidFill>
                        <a:latin typeface="Courier"/>
                        <a:ea typeface="ＭＳ Ｐゴシック" pitchFamily="34" charset="-128"/>
                      </a:rPr>
                      <a:t>p</a:t>
                    </a:r>
                    <a:r>
                      <a:rPr lang="en-US" sz="1400" dirty="0" err="1" smtClean="0">
                        <a:solidFill>
                          <a:schemeClr val="accent6"/>
                        </a:solidFill>
                        <a:latin typeface="Courier"/>
                        <a:ea typeface="ＭＳ Ｐゴシック" pitchFamily="34" charset="-128"/>
                      </a:rPr>
                      <a:t>rintf</a:t>
                    </a:r>
                    <a:endParaRPr lang="en-US" sz="1400" dirty="0">
                      <a:solidFill>
                        <a:schemeClr val="accent6"/>
                      </a:solidFill>
                      <a:latin typeface="Courier"/>
                      <a:ea typeface="ＭＳ Ｐゴシック" pitchFamily="34" charset="-128"/>
                    </a:endParaRPr>
                  </a:p>
                </p:txBody>
              </p:sp>
              <p:sp>
                <p:nvSpPr>
                  <p:cNvPr id="7188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4172" y="1756"/>
                    <a:ext cx="0" cy="208"/>
                  </a:xfrm>
                  <a:prstGeom prst="line">
                    <a:avLst/>
                  </a:prstGeom>
                  <a:noFill/>
                  <a:ln w="57150">
                    <a:solidFill>
                      <a:schemeClr val="accent1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>
                      <a:latin typeface="Courier"/>
                    </a:endParaRPr>
                  </a:p>
                </p:txBody>
              </p:sp>
              <p:sp>
                <p:nvSpPr>
                  <p:cNvPr id="7189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4160" y="1248"/>
                    <a:ext cx="0" cy="208"/>
                  </a:xfrm>
                  <a:prstGeom prst="line">
                    <a:avLst/>
                  </a:prstGeom>
                  <a:noFill/>
                  <a:ln w="57150">
                    <a:solidFill>
                      <a:schemeClr val="accent1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>
                      <a:latin typeface="Courier"/>
                    </a:endParaRPr>
                  </a:p>
                </p:txBody>
              </p:sp>
            </p:grpSp>
            <p:sp>
              <p:nvSpPr>
                <p:cNvPr id="7185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3556" y="1564"/>
                  <a:ext cx="1416" cy="8"/>
                </a:xfrm>
                <a:prstGeom prst="line">
                  <a:avLst/>
                </a:prstGeom>
                <a:noFill/>
                <a:ln w="57150">
                  <a:solidFill>
                    <a:schemeClr val="accent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Courier"/>
                  </a:endParaRPr>
                </a:p>
              </p:txBody>
            </p:sp>
            <p:sp>
              <p:nvSpPr>
                <p:cNvPr id="7186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3580" y="2272"/>
                  <a:ext cx="1384" cy="8"/>
                </a:xfrm>
                <a:prstGeom prst="line">
                  <a:avLst/>
                </a:prstGeom>
                <a:noFill/>
                <a:ln w="57150">
                  <a:solidFill>
                    <a:schemeClr val="accent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Courier"/>
                  </a:endParaRPr>
                </a:p>
              </p:txBody>
            </p:sp>
          </p:grpSp>
          <p:sp>
            <p:nvSpPr>
              <p:cNvPr id="7180" name="Line 45"/>
              <p:cNvSpPr>
                <a:spLocks noChangeShapeType="1"/>
              </p:cNvSpPr>
              <p:nvPr/>
            </p:nvSpPr>
            <p:spPr bwMode="auto">
              <a:xfrm>
                <a:off x="4536" y="215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accent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ourier"/>
                </a:endParaRPr>
              </a:p>
            </p:txBody>
          </p:sp>
        </p:grpSp>
        <p:sp>
          <p:nvSpPr>
            <p:cNvPr id="36" name="Rectangle 35"/>
            <p:cNvSpPr/>
            <p:nvPr/>
          </p:nvSpPr>
          <p:spPr>
            <a:xfrm>
              <a:off x="6088911" y="2738136"/>
              <a:ext cx="829074" cy="307777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400" dirty="0" err="1" smtClean="0">
                  <a:solidFill>
                    <a:schemeClr val="accent6"/>
                  </a:solidFill>
                  <a:latin typeface="Courier"/>
                  <a:ea typeface="ＭＳ Ｐゴシック" pitchFamily="34" charset="-128"/>
                </a:rPr>
                <a:t>printf</a:t>
              </a:r>
              <a:endParaRPr lang="en-US" sz="1400" dirty="0">
                <a:solidFill>
                  <a:schemeClr val="accent6"/>
                </a:solidFill>
                <a:latin typeface="Courier"/>
                <a:ea typeface="ＭＳ Ｐゴシック" pitchFamily="34" charset="-128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032681" y="2747183"/>
              <a:ext cx="829074" cy="307777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400" dirty="0" err="1" smtClean="0">
                  <a:solidFill>
                    <a:schemeClr val="accent6"/>
                  </a:solidFill>
                  <a:latin typeface="Courier"/>
                  <a:ea typeface="ＭＳ Ｐゴシック" pitchFamily="34" charset="-128"/>
                </a:rPr>
                <a:t>printf</a:t>
              </a:r>
              <a:endParaRPr lang="en-US" sz="1400" dirty="0">
                <a:solidFill>
                  <a:schemeClr val="accent6"/>
                </a:solidFill>
                <a:latin typeface="Courier"/>
                <a:ea typeface="ＭＳ Ｐゴシック" pitchFamily="34" charset="-128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976451" y="2750520"/>
              <a:ext cx="829074" cy="307777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400" dirty="0" err="1" smtClean="0">
                  <a:solidFill>
                    <a:schemeClr val="accent6"/>
                  </a:solidFill>
                  <a:latin typeface="Courier"/>
                  <a:ea typeface="ＭＳ Ｐゴシック" pitchFamily="34" charset="-128"/>
                </a:rPr>
                <a:t>printf</a:t>
              </a:r>
              <a:endParaRPr lang="en-US" sz="1400" dirty="0">
                <a:solidFill>
                  <a:schemeClr val="accent6"/>
                </a:solidFill>
                <a:latin typeface="Courier"/>
                <a:ea typeface="ＭＳ Ｐゴシック" pitchFamily="34" charset="-128"/>
              </a:endParaRPr>
            </a:p>
          </p:txBody>
        </p:sp>
      </p:grpSp>
      <p:sp>
        <p:nvSpPr>
          <p:cNvPr id="7177" name="Rectangle 29"/>
          <p:cNvSpPr>
            <a:spLocks noChangeArrowheads="1"/>
          </p:cNvSpPr>
          <p:nvPr/>
        </p:nvSpPr>
        <p:spPr bwMode="auto">
          <a:xfrm>
            <a:off x="3997906" y="951500"/>
            <a:ext cx="45720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b="0" dirty="0">
                <a:solidFill>
                  <a:schemeClr val="tx1"/>
                </a:solidFill>
              </a:rPr>
              <a:t>All </a:t>
            </a:r>
            <a:r>
              <a:rPr lang="en-US" altLang="en-US" b="0" dirty="0" err="1">
                <a:solidFill>
                  <a:schemeClr val="tx1"/>
                </a:solidFill>
              </a:rPr>
              <a:t>OpenMP</a:t>
            </a:r>
            <a:r>
              <a:rPr lang="en-US" altLang="en-US" b="0" dirty="0">
                <a:solidFill>
                  <a:schemeClr val="tx1"/>
                </a:solidFill>
              </a:rPr>
              <a:t> directives begin: </a:t>
            </a:r>
            <a:r>
              <a:rPr lang="en-US" altLang="en-US" b="0" dirty="0">
                <a:solidFill>
                  <a:srgbClr val="0070C0"/>
                </a:solidFill>
              </a:rPr>
              <a:t>#pragma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4572" y="6165538"/>
            <a:ext cx="8619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</a:rPr>
              <a:t>OpenMP</a:t>
            </a:r>
            <a:r>
              <a:rPr lang="en-US" sz="1800" dirty="0">
                <a:solidFill>
                  <a:schemeClr val="tx1"/>
                </a:solidFill>
              </a:rPr>
              <a:t> is used for computationally intensive work on each </a:t>
            </a:r>
            <a:r>
              <a:rPr lang="en-US" sz="1800" dirty="0" smtClean="0">
                <a:solidFill>
                  <a:schemeClr val="tx1"/>
                </a:solidFill>
              </a:rPr>
              <a:t>node (core)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OpenMP</a:t>
            </a:r>
            <a:r>
              <a:rPr lang="en-US" dirty="0"/>
              <a:t> </a:t>
            </a:r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4483279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How do threads interact</a:t>
            </a:r>
            <a:r>
              <a:rPr lang="en-US" sz="2000" dirty="0" smtClean="0"/>
              <a:t>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/>
              <a:t>OpenMP</a:t>
            </a:r>
            <a:r>
              <a:rPr lang="en-US" sz="2000" dirty="0"/>
              <a:t> is a multi-threading, </a:t>
            </a:r>
            <a:r>
              <a:rPr lang="en-US" sz="2000" u="sng" dirty="0"/>
              <a:t>shared </a:t>
            </a:r>
            <a:r>
              <a:rPr lang="en-US" sz="2000" u="sng" dirty="0" smtClean="0"/>
              <a:t>address</a:t>
            </a:r>
            <a:r>
              <a:rPr lang="en-US" sz="2000" dirty="0" smtClean="0"/>
              <a:t> model for parallelism.</a:t>
            </a:r>
            <a:endParaRPr lang="en-US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Threads </a:t>
            </a:r>
            <a:r>
              <a:rPr lang="en-US" sz="1800" dirty="0"/>
              <a:t>communicate by sharing </a:t>
            </a:r>
            <a:r>
              <a:rPr lang="en-US" sz="1800" dirty="0" smtClean="0"/>
              <a:t>variables (Within the same process).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rgbClr val="FF0000"/>
                </a:solidFill>
              </a:rPr>
              <a:t>Note</a:t>
            </a:r>
            <a:r>
              <a:rPr lang="en-US" sz="2000" dirty="0" smtClean="0"/>
              <a:t>: Any unintended </a:t>
            </a:r>
            <a:r>
              <a:rPr lang="en-US" sz="2000" dirty="0"/>
              <a:t>sharing of data </a:t>
            </a:r>
            <a:r>
              <a:rPr lang="en-US" sz="2000" dirty="0" smtClean="0"/>
              <a:t>may cause race conditions</a:t>
            </a:r>
            <a:r>
              <a:rPr lang="en-US" sz="2000" dirty="0"/>
              <a:t>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race condition occurs when </a:t>
            </a:r>
            <a:r>
              <a:rPr lang="en-US" sz="1800" dirty="0"/>
              <a:t>the program’s </a:t>
            </a:r>
            <a:r>
              <a:rPr lang="en-US" sz="1800" dirty="0" smtClean="0"/>
              <a:t>outcome changes </a:t>
            </a:r>
            <a:r>
              <a:rPr lang="en-US" sz="1800" dirty="0"/>
              <a:t>as the threads are scheduled differently</a:t>
            </a:r>
            <a:r>
              <a:rPr lang="en-US" sz="1800" dirty="0" smtClean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To control race conditions: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Use </a:t>
            </a:r>
            <a:r>
              <a:rPr lang="en-US" sz="1800" dirty="0">
                <a:solidFill>
                  <a:srgbClr val="FF0000"/>
                </a:solidFill>
              </a:rPr>
              <a:t>synchronization</a:t>
            </a:r>
            <a:r>
              <a:rPr lang="en-US" sz="1800" dirty="0"/>
              <a:t> to protect data conflicts.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Synchronization </a:t>
            </a:r>
            <a:r>
              <a:rPr lang="en-US" sz="2000" dirty="0"/>
              <a:t>is </a:t>
            </a:r>
            <a:r>
              <a:rPr lang="en-US" sz="2000" u="sng" dirty="0"/>
              <a:t>expensive</a:t>
            </a:r>
            <a:r>
              <a:rPr lang="en-US" sz="2000" dirty="0"/>
              <a:t> so: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Change </a:t>
            </a:r>
            <a:r>
              <a:rPr lang="en-US" sz="1800" dirty="0"/>
              <a:t>how data is accessed to minimize the </a:t>
            </a:r>
            <a:r>
              <a:rPr lang="en-US" sz="1800" dirty="0" smtClean="0"/>
              <a:t>need for </a:t>
            </a:r>
            <a:r>
              <a:rPr lang="en-US" sz="1800" dirty="0"/>
              <a:t>synchronization.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5D5B8-26F2-4F1D-A221-C4DFB33BEBD3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481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3713837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In addition to a </a:t>
            </a:r>
            <a:r>
              <a:rPr lang="en-US" sz="2800" dirty="0">
                <a:solidFill>
                  <a:srgbClr val="000099"/>
                </a:solidFill>
              </a:rPr>
              <a:t>parallel construct</a:t>
            </a:r>
            <a:r>
              <a:rPr lang="en-US" sz="2800" dirty="0"/>
              <a:t>, </a:t>
            </a:r>
            <a:endParaRPr lang="en-US" sz="28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 smtClean="0"/>
              <a:t>You may need the following runtime </a:t>
            </a:r>
            <a:r>
              <a:rPr lang="en-US" sz="2800" dirty="0"/>
              <a:t>library </a:t>
            </a:r>
            <a:r>
              <a:rPr lang="en-US" sz="2800" dirty="0" smtClean="0"/>
              <a:t>routines:</a:t>
            </a:r>
            <a:endParaRPr lang="en-US" sz="28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void </a:t>
            </a:r>
            <a:r>
              <a:rPr lang="en-US" sz="2400" dirty="0" err="1" smtClean="0"/>
              <a:t>omp_set_num_threads</a:t>
            </a:r>
            <a:r>
              <a:rPr lang="en-US" sz="2400" dirty="0" smtClean="0"/>
              <a:t>();</a:t>
            </a:r>
            <a:endParaRPr lang="en-US" sz="24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/>
              <a:t>omp_get_num_threads</a:t>
            </a:r>
            <a:r>
              <a:rPr lang="en-US" sz="2400" dirty="0" smtClean="0"/>
              <a:t>();</a:t>
            </a:r>
            <a:endParaRPr lang="en-US" sz="24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omp_get_thread_num</a:t>
            </a:r>
            <a:r>
              <a:rPr lang="en-US" sz="2400" dirty="0" smtClean="0"/>
              <a:t>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5D5B8-26F2-4F1D-A221-C4DFB33BEBD3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78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Yelick267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00CC"/>
      </a:hlink>
      <a:folHlink>
        <a:srgbClr val="EAEC5E"/>
      </a:folHlink>
    </a:clrScheme>
    <a:fontScheme name="Yelick26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Yelick267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elick26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elick267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elick267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elick267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elick267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elick267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1490439863</TotalTime>
  <Pages>27</Pages>
  <Words>793</Words>
  <Application>Microsoft Office PowerPoint</Application>
  <PresentationFormat>Letter Paper (8.5x11 in)</PresentationFormat>
  <Paragraphs>175</Paragraphs>
  <Slides>11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Yelick267</vt:lpstr>
      <vt:lpstr>Parallel Programming with OpenMP – Part #1</vt:lpstr>
      <vt:lpstr>A Programmer’s View of OpenMP</vt:lpstr>
      <vt:lpstr>OpenMP Programming Model</vt:lpstr>
      <vt:lpstr>OpenMP is a Thread Based Parallelism:</vt:lpstr>
      <vt:lpstr>OpenMP Core Syntax</vt:lpstr>
      <vt:lpstr>Exercise 1: Hello world</vt:lpstr>
      <vt:lpstr>OpenMP: Hello World</vt:lpstr>
      <vt:lpstr>OpenMP: Hello World</vt:lpstr>
      <vt:lpstr>OpenMP: Hello World</vt:lpstr>
      <vt:lpstr>OpenMP Overview</vt:lpstr>
      <vt:lpstr>Summary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Memory Parallel Programming</dc:title>
  <dc:creator>Kathy Yelick</dc:creator>
  <dc:description>Slides by Jim Demmel and Kathy Yelick</dc:description>
  <cp:lastModifiedBy>OC</cp:lastModifiedBy>
  <cp:revision>352</cp:revision>
  <cp:lastPrinted>1997-01-22T19:34:41Z</cp:lastPrinted>
  <dcterms:created xsi:type="dcterms:W3CDTF">2011-02-03T12:56:53Z</dcterms:created>
  <dcterms:modified xsi:type="dcterms:W3CDTF">2025-10-08T19:05:28Z</dcterms:modified>
</cp:coreProperties>
</file>